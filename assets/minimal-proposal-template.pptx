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FB1B298-6766-402F-A4F8-CCDF4E53EDC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ver-left"/>
          <p:cNvSpPr/>
          <p:nvPr/>
        </p:nvSpPr>
        <p:spPr>
          <a:xfrm>
            <a:off x="0" y="0"/>
            <a:ext cx="3904920" cy="685764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cover-brand"/>
          <p:cNvSpPr/>
          <p:nvPr/>
        </p:nvSpPr>
        <p:spPr>
          <a:xfrm>
            <a:off x="609480" y="609480"/>
            <a:ext cx="2476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BUSINESS PROPOSAL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over-title"/>
          <p:cNvSpPr/>
          <p:nvPr/>
        </p:nvSpPr>
        <p:spPr>
          <a:xfrm>
            <a:off x="4762440" y="1428840"/>
            <a:ext cx="581004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5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Proposal title goes here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cover-thesis"/>
          <p:cNvSpPr/>
          <p:nvPr/>
        </p:nvSpPr>
        <p:spPr>
          <a:xfrm>
            <a:off x="4762440" y="2952720"/>
            <a:ext cx="600048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One winning thesis that explains why this plan deserves to be selected.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cover-rule"/>
          <p:cNvSpPr/>
          <p:nvPr/>
        </p:nvSpPr>
        <p:spPr>
          <a:xfrm>
            <a:off x="4762440" y="4095720"/>
            <a:ext cx="5143320" cy="360"/>
          </a:xfrm>
          <a:prstGeom prst="line">
            <a:avLst/>
          </a:prstGeom>
          <a:ln w="28575">
            <a:solidFill>
              <a:srgbClr val="CDA3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cover-meta"/>
          <p:cNvSpPr/>
          <p:nvPr/>
        </p:nvSpPr>
        <p:spPr>
          <a:xfrm>
            <a:off x="4762440" y="5429160"/>
            <a:ext cx="4952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Client / Project / Date / Presenter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cover-pill-0-pill"/>
          <p:cNvSpPr/>
          <p:nvPr/>
        </p:nvSpPr>
        <p:spPr>
          <a:xfrm>
            <a:off x="609480" y="4381560"/>
            <a:ext cx="1714320" cy="323640"/>
          </a:xfrm>
          <a:prstGeom prst="roundRect">
            <a:avLst>
              <a:gd name="adj" fmla="val 50000"/>
            </a:avLst>
          </a:prstGeom>
          <a:solidFill>
            <a:srgbClr val="CDA34B"/>
          </a:solidFill>
          <a:ln w="9525">
            <a:solidFill>
              <a:srgbClr val="CDA3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over-pill-0-text"/>
          <p:cNvSpPr/>
          <p:nvPr/>
        </p:nvSpPr>
        <p:spPr>
          <a:xfrm>
            <a:off x="743040" y="4457880"/>
            <a:ext cx="144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Problem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over-pill-1-pill"/>
          <p:cNvSpPr/>
          <p:nvPr/>
        </p:nvSpPr>
        <p:spPr>
          <a:xfrm>
            <a:off x="609480" y="4819680"/>
            <a:ext cx="1714320" cy="323640"/>
          </a:xfrm>
          <a:prstGeom prst="roundRect">
            <a:avLst>
              <a:gd name="adj" fmla="val 50000"/>
            </a:avLst>
          </a:prstGeom>
          <a:solidFill>
            <a:srgbClr val="E07A4F"/>
          </a:solidFill>
          <a:ln w="9525">
            <a:solidFill>
              <a:srgbClr val="E07A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cover-pill-1-text"/>
          <p:cNvSpPr/>
          <p:nvPr/>
        </p:nvSpPr>
        <p:spPr>
          <a:xfrm>
            <a:off x="743040" y="4896000"/>
            <a:ext cx="144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Proof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over-pill-2-pill"/>
          <p:cNvSpPr/>
          <p:nvPr/>
        </p:nvSpPr>
        <p:spPr>
          <a:xfrm>
            <a:off x="609480" y="5257800"/>
            <a:ext cx="1714320" cy="323640"/>
          </a:xfrm>
          <a:prstGeom prst="roundRect">
            <a:avLst>
              <a:gd name="adj" fmla="val 50000"/>
            </a:avLst>
          </a:prstGeom>
          <a:solidFill>
            <a:srgbClr val="3D83A5"/>
          </a:solidFill>
          <a:ln w="9525">
            <a:solidFill>
              <a:srgbClr val="3D83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cover-pill-2-text"/>
          <p:cNvSpPr/>
          <p:nvPr/>
        </p:nvSpPr>
        <p:spPr>
          <a:xfrm>
            <a:off x="743040" y="5334120"/>
            <a:ext cx="144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kicker-2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WINNING THESIS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age-2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itle-2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Turn the client problem into a memorable decision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ubtitle-2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Use a strong argument first, then prove the operating system.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hero-thesis"/>
          <p:cNvSpPr/>
          <p:nvPr/>
        </p:nvSpPr>
        <p:spPr>
          <a:xfrm>
            <a:off x="743040" y="2266920"/>
            <a:ext cx="5810040" cy="2857320"/>
          </a:xfrm>
          <a:prstGeom prst="roundRect">
            <a:avLst>
              <a:gd name="adj" fmla="val 4000"/>
            </a:avLst>
          </a:prstGeom>
          <a:solidFill>
            <a:srgbClr val="0E5E43"/>
          </a:solidFill>
          <a:ln w="9525">
            <a:solidFill>
              <a:srgbClr val="0E5E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hero-thesis-text"/>
          <p:cNvSpPr/>
          <p:nvPr/>
        </p:nvSpPr>
        <p:spPr>
          <a:xfrm>
            <a:off x="1104840" y="2876400"/>
            <a:ext cx="509544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proposal wins when the client remembers one clear reason to choose us.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hero-support"/>
          <p:cNvSpPr/>
          <p:nvPr/>
        </p:nvSpPr>
        <p:spPr>
          <a:xfrm>
            <a:off x="1104840" y="4172040"/>
            <a:ext cx="49525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Replace this with the one-sentence winning thesis.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hesis-proof-0-card"/>
          <p:cNvSpPr/>
          <p:nvPr/>
        </p:nvSpPr>
        <p:spPr>
          <a:xfrm>
            <a:off x="6953400" y="2266920"/>
            <a:ext cx="3904920" cy="7999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hesis-proof-0-bar"/>
          <p:cNvSpPr/>
          <p:nvPr/>
        </p:nvSpPr>
        <p:spPr>
          <a:xfrm>
            <a:off x="6953400" y="2266920"/>
            <a:ext cx="56880" cy="799920"/>
          </a:xfrm>
          <a:prstGeom prst="rect">
            <a:avLst/>
          </a:prstGeom>
          <a:solidFill>
            <a:srgbClr val="CDA34B"/>
          </a:solidFill>
          <a:ln w="0">
            <a:solidFill>
              <a:srgbClr val="CDA34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hesis-proof-0-label"/>
          <p:cNvSpPr/>
          <p:nvPr/>
        </p:nvSpPr>
        <p:spPr>
          <a:xfrm>
            <a:off x="7162920" y="2438280"/>
            <a:ext cx="3485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Client problem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hesis-proof-0-body"/>
          <p:cNvSpPr/>
          <p:nvPr/>
        </p:nvSpPr>
        <p:spPr>
          <a:xfrm>
            <a:off x="7162920" y="2838600"/>
            <a:ext cx="3485880" cy="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One concise proof point or implication.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hesis-proof-1-card"/>
          <p:cNvSpPr/>
          <p:nvPr/>
        </p:nvSpPr>
        <p:spPr>
          <a:xfrm>
            <a:off x="6953400" y="3295800"/>
            <a:ext cx="3904920" cy="7999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hesis-proof-1-bar"/>
          <p:cNvSpPr/>
          <p:nvPr/>
        </p:nvSpPr>
        <p:spPr>
          <a:xfrm>
            <a:off x="6953400" y="3295800"/>
            <a:ext cx="56880" cy="799920"/>
          </a:xfrm>
          <a:prstGeom prst="rect">
            <a:avLst/>
          </a:prstGeom>
          <a:solidFill>
            <a:srgbClr val="3D83A5"/>
          </a:solidFill>
          <a:ln w="0">
            <a:solidFill>
              <a:srgbClr val="3D83A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hesis-proof-1-label"/>
          <p:cNvSpPr/>
          <p:nvPr/>
        </p:nvSpPr>
        <p:spPr>
          <a:xfrm>
            <a:off x="7162920" y="3467160"/>
            <a:ext cx="3485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D83A5"/>
                </a:solidFill>
                <a:effectLst/>
                <a:uFillTx/>
                <a:latin typeface="Calibri"/>
                <a:ea typeface="Calibri"/>
              </a:rPr>
              <a:t>Our judgment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hesis-proof-1-body"/>
          <p:cNvSpPr/>
          <p:nvPr/>
        </p:nvSpPr>
        <p:spPr>
          <a:xfrm>
            <a:off x="7162920" y="3867120"/>
            <a:ext cx="3485880" cy="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One concise proof point or implication.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hesis-proof-2-card"/>
          <p:cNvSpPr/>
          <p:nvPr/>
        </p:nvSpPr>
        <p:spPr>
          <a:xfrm>
            <a:off x="6953400" y="4324320"/>
            <a:ext cx="3904920" cy="7999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hesis-proof-2-bar"/>
          <p:cNvSpPr/>
          <p:nvPr/>
        </p:nvSpPr>
        <p:spPr>
          <a:xfrm>
            <a:off x="6953400" y="4324320"/>
            <a:ext cx="56880" cy="799920"/>
          </a:xfrm>
          <a:prstGeom prst="rect">
            <a:avLst/>
          </a:prstGeom>
          <a:solidFill>
            <a:srgbClr val="E07A4F"/>
          </a:solidFill>
          <a:ln w="0">
            <a:solidFill>
              <a:srgbClr val="E07A4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hesis-proof-2-label"/>
          <p:cNvSpPr/>
          <p:nvPr/>
        </p:nvSpPr>
        <p:spPr>
          <a:xfrm>
            <a:off x="7162920" y="4495680"/>
            <a:ext cx="3485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07A4F"/>
                </a:solidFill>
                <a:effectLst/>
                <a:uFillTx/>
                <a:latin typeface="Calibri"/>
                <a:ea typeface="Calibri"/>
              </a:rPr>
              <a:t>Business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hesis-proof-2-body"/>
          <p:cNvSpPr/>
          <p:nvPr/>
        </p:nvSpPr>
        <p:spPr>
          <a:xfrm>
            <a:off x="7162920" y="4896000"/>
            <a:ext cx="3485880" cy="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One concise proof point or implication.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footer-line-2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footer-2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kicker-3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BRIEF RESPONSE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age-3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itle-3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Translate the brief into purchase criteria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ubtitle-3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Show what the client is really buying and how the proposal answers it.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brief-head-0"/>
          <p:cNvSpPr/>
          <p:nvPr/>
        </p:nvSpPr>
        <p:spPr>
          <a:xfrm>
            <a:off x="743040" y="2247840"/>
            <a:ext cx="2285640" cy="41868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brief-head-text-0"/>
          <p:cNvSpPr/>
          <p:nvPr/>
        </p:nvSpPr>
        <p:spPr>
          <a:xfrm>
            <a:off x="895320" y="2362320"/>
            <a:ext cx="19807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 words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brief-head-1"/>
          <p:cNvSpPr/>
          <p:nvPr/>
        </p:nvSpPr>
        <p:spPr>
          <a:xfrm>
            <a:off x="3029040" y="2247840"/>
            <a:ext cx="2857320" cy="41868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brief-head-text-1"/>
          <p:cNvSpPr/>
          <p:nvPr/>
        </p:nvSpPr>
        <p:spPr>
          <a:xfrm>
            <a:off x="3181320" y="2362320"/>
            <a:ext cx="25524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Our translation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brief-head-2"/>
          <p:cNvSpPr/>
          <p:nvPr/>
        </p:nvSpPr>
        <p:spPr>
          <a:xfrm>
            <a:off x="5886360" y="2247840"/>
            <a:ext cx="2857320" cy="41868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brief-head-text-2"/>
          <p:cNvSpPr/>
          <p:nvPr/>
        </p:nvSpPr>
        <p:spPr>
          <a:xfrm>
            <a:off x="6039000" y="2362320"/>
            <a:ext cx="25524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Proposal response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brief-cell-bg-0-0"/>
          <p:cNvSpPr/>
          <p:nvPr/>
        </p:nvSpPr>
        <p:spPr>
          <a:xfrm>
            <a:off x="743040" y="2666880"/>
            <a:ext cx="228564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brief-cell-border-0-0"/>
          <p:cNvSpPr/>
          <p:nvPr/>
        </p:nvSpPr>
        <p:spPr>
          <a:xfrm>
            <a:off x="743040" y="2666880"/>
            <a:ext cx="228564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brief-cell-text-0-0"/>
          <p:cNvSpPr/>
          <p:nvPr/>
        </p:nvSpPr>
        <p:spPr>
          <a:xfrm>
            <a:off x="895320" y="2838600"/>
            <a:ext cx="19807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brief-cell-bg-0-1"/>
          <p:cNvSpPr/>
          <p:nvPr/>
        </p:nvSpPr>
        <p:spPr>
          <a:xfrm>
            <a:off x="3029040" y="2666880"/>
            <a:ext cx="285732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brief-cell-border-0-1"/>
          <p:cNvSpPr/>
          <p:nvPr/>
        </p:nvSpPr>
        <p:spPr>
          <a:xfrm>
            <a:off x="3029040" y="266688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brief-cell-text-0-1"/>
          <p:cNvSpPr/>
          <p:nvPr/>
        </p:nvSpPr>
        <p:spPr>
          <a:xfrm>
            <a:off x="3181320" y="283860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brief-cell-bg-0-2"/>
          <p:cNvSpPr/>
          <p:nvPr/>
        </p:nvSpPr>
        <p:spPr>
          <a:xfrm>
            <a:off x="5886360" y="2666880"/>
            <a:ext cx="285732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brief-cell-border-0-2"/>
          <p:cNvSpPr/>
          <p:nvPr/>
        </p:nvSpPr>
        <p:spPr>
          <a:xfrm>
            <a:off x="5886360" y="266688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brief-cell-text-0-2"/>
          <p:cNvSpPr/>
          <p:nvPr/>
        </p:nvSpPr>
        <p:spPr>
          <a:xfrm>
            <a:off x="6039000" y="283860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brief-cell-bg-1-0"/>
          <p:cNvSpPr/>
          <p:nvPr/>
        </p:nvSpPr>
        <p:spPr>
          <a:xfrm>
            <a:off x="743040" y="3238560"/>
            <a:ext cx="228564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brief-cell-border-1-0"/>
          <p:cNvSpPr/>
          <p:nvPr/>
        </p:nvSpPr>
        <p:spPr>
          <a:xfrm>
            <a:off x="743040" y="3238560"/>
            <a:ext cx="228564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brief-cell-text-1-0"/>
          <p:cNvSpPr/>
          <p:nvPr/>
        </p:nvSpPr>
        <p:spPr>
          <a:xfrm>
            <a:off x="895320" y="3409920"/>
            <a:ext cx="19807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brief-cell-bg-1-1"/>
          <p:cNvSpPr/>
          <p:nvPr/>
        </p:nvSpPr>
        <p:spPr>
          <a:xfrm>
            <a:off x="3029040" y="3238560"/>
            <a:ext cx="285732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brief-cell-border-1-1"/>
          <p:cNvSpPr/>
          <p:nvPr/>
        </p:nvSpPr>
        <p:spPr>
          <a:xfrm>
            <a:off x="3029040" y="323856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brief-cell-text-1-1"/>
          <p:cNvSpPr/>
          <p:nvPr/>
        </p:nvSpPr>
        <p:spPr>
          <a:xfrm>
            <a:off x="3181320" y="340992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brief-cell-bg-1-2"/>
          <p:cNvSpPr/>
          <p:nvPr/>
        </p:nvSpPr>
        <p:spPr>
          <a:xfrm>
            <a:off x="5886360" y="3238560"/>
            <a:ext cx="285732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brief-cell-border-1-2"/>
          <p:cNvSpPr/>
          <p:nvPr/>
        </p:nvSpPr>
        <p:spPr>
          <a:xfrm>
            <a:off x="5886360" y="323856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brief-cell-text-1-2"/>
          <p:cNvSpPr/>
          <p:nvPr/>
        </p:nvSpPr>
        <p:spPr>
          <a:xfrm>
            <a:off x="6039000" y="340992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brief-cell-bg-2-0"/>
          <p:cNvSpPr/>
          <p:nvPr/>
        </p:nvSpPr>
        <p:spPr>
          <a:xfrm>
            <a:off x="743040" y="3809880"/>
            <a:ext cx="228564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brief-cell-border-2-0"/>
          <p:cNvSpPr/>
          <p:nvPr/>
        </p:nvSpPr>
        <p:spPr>
          <a:xfrm>
            <a:off x="743040" y="3809880"/>
            <a:ext cx="228564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brief-cell-text-2-0"/>
          <p:cNvSpPr/>
          <p:nvPr/>
        </p:nvSpPr>
        <p:spPr>
          <a:xfrm>
            <a:off x="895320" y="3981600"/>
            <a:ext cx="19807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brief-cell-bg-2-1"/>
          <p:cNvSpPr/>
          <p:nvPr/>
        </p:nvSpPr>
        <p:spPr>
          <a:xfrm>
            <a:off x="3029040" y="3809880"/>
            <a:ext cx="285732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brief-cell-border-2-1"/>
          <p:cNvSpPr/>
          <p:nvPr/>
        </p:nvSpPr>
        <p:spPr>
          <a:xfrm>
            <a:off x="3029040" y="380988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brief-cell-text-2-1"/>
          <p:cNvSpPr/>
          <p:nvPr/>
        </p:nvSpPr>
        <p:spPr>
          <a:xfrm>
            <a:off x="3181320" y="398160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brief-cell-bg-2-2"/>
          <p:cNvSpPr/>
          <p:nvPr/>
        </p:nvSpPr>
        <p:spPr>
          <a:xfrm>
            <a:off x="5886360" y="3809880"/>
            <a:ext cx="2857320" cy="57132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brief-cell-border-2-2"/>
          <p:cNvSpPr/>
          <p:nvPr/>
        </p:nvSpPr>
        <p:spPr>
          <a:xfrm>
            <a:off x="5886360" y="380988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brief-cell-text-2-2"/>
          <p:cNvSpPr/>
          <p:nvPr/>
        </p:nvSpPr>
        <p:spPr>
          <a:xfrm>
            <a:off x="6039000" y="398160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brief-cell-bg-3-0"/>
          <p:cNvSpPr/>
          <p:nvPr/>
        </p:nvSpPr>
        <p:spPr>
          <a:xfrm>
            <a:off x="743040" y="4381560"/>
            <a:ext cx="228564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brief-cell-border-3-0"/>
          <p:cNvSpPr/>
          <p:nvPr/>
        </p:nvSpPr>
        <p:spPr>
          <a:xfrm>
            <a:off x="743040" y="4381560"/>
            <a:ext cx="228564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brief-cell-text-3-0"/>
          <p:cNvSpPr/>
          <p:nvPr/>
        </p:nvSpPr>
        <p:spPr>
          <a:xfrm>
            <a:off x="895320" y="4552920"/>
            <a:ext cx="19807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brief-cell-bg-3-1"/>
          <p:cNvSpPr/>
          <p:nvPr/>
        </p:nvSpPr>
        <p:spPr>
          <a:xfrm>
            <a:off x="3029040" y="4381560"/>
            <a:ext cx="285732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brief-cell-border-3-1"/>
          <p:cNvSpPr/>
          <p:nvPr/>
        </p:nvSpPr>
        <p:spPr>
          <a:xfrm>
            <a:off x="3029040" y="438156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brief-cell-text-3-1"/>
          <p:cNvSpPr/>
          <p:nvPr/>
        </p:nvSpPr>
        <p:spPr>
          <a:xfrm>
            <a:off x="3181320" y="455292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brief-cell-bg-3-2"/>
          <p:cNvSpPr/>
          <p:nvPr/>
        </p:nvSpPr>
        <p:spPr>
          <a:xfrm>
            <a:off x="5886360" y="4381560"/>
            <a:ext cx="2857320" cy="571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brief-cell-border-3-2"/>
          <p:cNvSpPr/>
          <p:nvPr/>
        </p:nvSpPr>
        <p:spPr>
          <a:xfrm>
            <a:off x="5886360" y="4381560"/>
            <a:ext cx="2857320" cy="57132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brief-cell-text-3-2"/>
          <p:cNvSpPr/>
          <p:nvPr/>
        </p:nvSpPr>
        <p:spPr>
          <a:xfrm>
            <a:off x="6039000" y="4552920"/>
            <a:ext cx="25524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brief-risk"/>
          <p:cNvSpPr/>
          <p:nvPr/>
        </p:nvSpPr>
        <p:spPr>
          <a:xfrm>
            <a:off x="9001080" y="2247840"/>
            <a:ext cx="2476080" cy="2704680"/>
          </a:xfrm>
          <a:prstGeom prst="roundRect">
            <a:avLst>
              <a:gd name="adj" fmla="val 4615"/>
            </a:avLst>
          </a:prstGeom>
          <a:solidFill>
            <a:srgbClr val="F6ECD2"/>
          </a:solidFill>
          <a:ln w="9525">
            <a:solidFill>
              <a:srgbClr val="CDA3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brief-risk-title"/>
          <p:cNvSpPr/>
          <p:nvPr/>
        </p:nvSpPr>
        <p:spPr>
          <a:xfrm>
            <a:off x="9239400" y="2533680"/>
            <a:ext cx="19998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Decision risk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brief-risk-body"/>
          <p:cNvSpPr/>
          <p:nvPr/>
        </p:nvSpPr>
        <p:spPr>
          <a:xfrm>
            <a:off x="9239400" y="3048120"/>
            <a:ext cx="199980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What will fail if the proposal only creates noise, but not memory, proof, or conversion?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brief-risk-line"/>
          <p:cNvSpPr/>
          <p:nvPr/>
        </p:nvSpPr>
        <p:spPr>
          <a:xfrm>
            <a:off x="9239400" y="4457880"/>
            <a:ext cx="19998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So this deck must answer the real purchase question.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footer-line-3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footer-3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93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divider-num"/>
          <p:cNvSpPr/>
          <p:nvPr/>
        </p:nvSpPr>
        <p:spPr>
          <a:xfrm>
            <a:off x="800280" y="666720"/>
            <a:ext cx="11426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divider-title"/>
          <p:cNvSpPr/>
          <p:nvPr/>
        </p:nvSpPr>
        <p:spPr>
          <a:xfrm>
            <a:off x="1619280" y="2143080"/>
            <a:ext cx="78102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Make the big idea easy to repeat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divider-sub"/>
          <p:cNvSpPr/>
          <p:nvPr/>
        </p:nvSpPr>
        <p:spPr>
          <a:xfrm>
            <a:off x="1657440" y="3571920"/>
            <a:ext cx="6857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Use this slide as a chapter reset, strategic shift, or slogan page.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divider-accent"/>
          <p:cNvSpPr/>
          <p:nvPr/>
        </p:nvSpPr>
        <p:spPr>
          <a:xfrm>
            <a:off x="1657440" y="4334040"/>
            <a:ext cx="3428640" cy="56880"/>
          </a:xfrm>
          <a:prstGeom prst="rect">
            <a:avLst/>
          </a:prstGeom>
          <a:solidFill>
            <a:srgbClr val="CDA34B"/>
          </a:solidFill>
          <a:ln w="0">
            <a:solidFill>
              <a:srgbClr val="CDA34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12240" rIns="90000" bIns="122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divider-footer"/>
          <p:cNvSpPr/>
          <p:nvPr/>
        </p:nvSpPr>
        <p:spPr>
          <a:xfrm>
            <a:off x="800280" y="6191280"/>
            <a:ext cx="3238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9CC5B3"/>
                </a:solidFill>
                <a:effectLst/>
                <a:uFillTx/>
                <a:latin typeface="Calibri"/>
                <a:ea typeface="Calibri"/>
              </a:rPr>
              <a:t>BREATHING SLIDE / LOW DENSITY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kicker-5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STRATEGY MAP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age-5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itle-5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One thesis, four operating pillars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ubtitle-5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 system map should make the rest of the deck easier to follow.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ap-center"/>
          <p:cNvSpPr/>
          <p:nvPr/>
        </p:nvSpPr>
        <p:spPr>
          <a:xfrm>
            <a:off x="3429000" y="2381400"/>
            <a:ext cx="5333760" cy="914040"/>
          </a:xfrm>
          <a:prstGeom prst="roundRect">
            <a:avLst>
              <a:gd name="adj" fmla="val 12500"/>
            </a:avLst>
          </a:prstGeom>
          <a:solidFill>
            <a:srgbClr val="E8F2EC"/>
          </a:solidFill>
          <a:ln w="9525">
            <a:solidFill>
              <a:srgbClr val="CFE3D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ap-center-text"/>
          <p:cNvSpPr/>
          <p:nvPr/>
        </p:nvSpPr>
        <p:spPr>
          <a:xfrm>
            <a:off x="3714840" y="2685960"/>
            <a:ext cx="4762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Core strategy / proposal proposition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ap-pillar-0-card"/>
          <p:cNvSpPr/>
          <p:nvPr/>
        </p:nvSpPr>
        <p:spPr>
          <a:xfrm>
            <a:off x="1047600" y="2143080"/>
            <a:ext cx="2190240" cy="1238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ap-pillar-0-bar"/>
          <p:cNvSpPr/>
          <p:nvPr/>
        </p:nvSpPr>
        <p:spPr>
          <a:xfrm>
            <a:off x="1047600" y="2143080"/>
            <a:ext cx="56880" cy="123804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map-pillar-0-label"/>
          <p:cNvSpPr/>
          <p:nvPr/>
        </p:nvSpPr>
        <p:spPr>
          <a:xfrm>
            <a:off x="1257480" y="2314440"/>
            <a:ext cx="1771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Pillar 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ap-pillar-0-body"/>
          <p:cNvSpPr/>
          <p:nvPr/>
        </p:nvSpPr>
        <p:spPr>
          <a:xfrm>
            <a:off x="1257480" y="2714760"/>
            <a:ext cx="1771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Action, deliverable, and proof.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ap-pillar-1-card"/>
          <p:cNvSpPr/>
          <p:nvPr/>
        </p:nvSpPr>
        <p:spPr>
          <a:xfrm>
            <a:off x="9334440" y="2143080"/>
            <a:ext cx="2190240" cy="1238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map-pillar-1-bar"/>
          <p:cNvSpPr/>
          <p:nvPr/>
        </p:nvSpPr>
        <p:spPr>
          <a:xfrm>
            <a:off x="9334440" y="2143080"/>
            <a:ext cx="56880" cy="1238040"/>
          </a:xfrm>
          <a:prstGeom prst="rect">
            <a:avLst/>
          </a:prstGeom>
          <a:solidFill>
            <a:srgbClr val="CDA34B"/>
          </a:solidFill>
          <a:ln w="0">
            <a:solidFill>
              <a:srgbClr val="CDA34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ap-pillar-1-label"/>
          <p:cNvSpPr/>
          <p:nvPr/>
        </p:nvSpPr>
        <p:spPr>
          <a:xfrm>
            <a:off x="9543960" y="2314440"/>
            <a:ext cx="1771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Pillar 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ap-pillar-1-body"/>
          <p:cNvSpPr/>
          <p:nvPr/>
        </p:nvSpPr>
        <p:spPr>
          <a:xfrm>
            <a:off x="9543960" y="2714760"/>
            <a:ext cx="1771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Action, deliverable, and proof.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map-pillar-2-card"/>
          <p:cNvSpPr/>
          <p:nvPr/>
        </p:nvSpPr>
        <p:spPr>
          <a:xfrm>
            <a:off x="1047600" y="4000680"/>
            <a:ext cx="2190240" cy="1238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map-pillar-2-bar"/>
          <p:cNvSpPr/>
          <p:nvPr/>
        </p:nvSpPr>
        <p:spPr>
          <a:xfrm>
            <a:off x="1047600" y="4000680"/>
            <a:ext cx="56880" cy="1238040"/>
          </a:xfrm>
          <a:prstGeom prst="rect">
            <a:avLst/>
          </a:prstGeom>
          <a:solidFill>
            <a:srgbClr val="E07A4F"/>
          </a:solidFill>
          <a:ln w="0">
            <a:solidFill>
              <a:srgbClr val="E07A4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map-pillar-2-label"/>
          <p:cNvSpPr/>
          <p:nvPr/>
        </p:nvSpPr>
        <p:spPr>
          <a:xfrm>
            <a:off x="1257480" y="4172040"/>
            <a:ext cx="1771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07A4F"/>
                </a:solidFill>
                <a:effectLst/>
                <a:uFillTx/>
                <a:latin typeface="Calibri"/>
                <a:ea typeface="Calibri"/>
              </a:rPr>
              <a:t>Pillar 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map-pillar-2-body"/>
          <p:cNvSpPr/>
          <p:nvPr/>
        </p:nvSpPr>
        <p:spPr>
          <a:xfrm>
            <a:off x="1257480" y="4572000"/>
            <a:ext cx="1771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Action, deliverable, and proof.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ap-pillar-3-card"/>
          <p:cNvSpPr/>
          <p:nvPr/>
        </p:nvSpPr>
        <p:spPr>
          <a:xfrm>
            <a:off x="9334440" y="4000680"/>
            <a:ext cx="2190240" cy="12380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map-pillar-3-bar"/>
          <p:cNvSpPr/>
          <p:nvPr/>
        </p:nvSpPr>
        <p:spPr>
          <a:xfrm>
            <a:off x="9334440" y="4000680"/>
            <a:ext cx="56880" cy="1238040"/>
          </a:xfrm>
          <a:prstGeom prst="rect">
            <a:avLst/>
          </a:prstGeom>
          <a:solidFill>
            <a:srgbClr val="3D83A5"/>
          </a:solidFill>
          <a:ln w="0">
            <a:solidFill>
              <a:srgbClr val="3D83A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map-pillar-3-label"/>
          <p:cNvSpPr/>
          <p:nvPr/>
        </p:nvSpPr>
        <p:spPr>
          <a:xfrm>
            <a:off x="9543960" y="4172040"/>
            <a:ext cx="1771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3D83A5"/>
                </a:solidFill>
                <a:effectLst/>
                <a:uFillTx/>
                <a:latin typeface="Calibri"/>
                <a:ea typeface="Calibri"/>
              </a:rPr>
              <a:t>Pillar 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ap-pillar-3-body"/>
          <p:cNvSpPr/>
          <p:nvPr/>
        </p:nvSpPr>
        <p:spPr>
          <a:xfrm>
            <a:off x="9543960" y="4572000"/>
            <a:ext cx="177120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Action, deliverable, and proof.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ap-strip"/>
          <p:cNvSpPr/>
          <p:nvPr/>
        </p:nvSpPr>
        <p:spPr>
          <a:xfrm>
            <a:off x="1619280" y="5619600"/>
            <a:ext cx="8953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Use the bottom strip for the one-line implication: what this system changes for the client.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footer-line-5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footer-5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kicker-6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EVIDENCE PAGE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age-6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itle-6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Proof should occupy the page, not sit in a corner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ubtitle-6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Use screenshots, sample boards, benchmarks, or data with direct labels.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roof-frame-0"/>
          <p:cNvSpPr/>
          <p:nvPr/>
        </p:nvSpPr>
        <p:spPr>
          <a:xfrm>
            <a:off x="743040" y="2286000"/>
            <a:ext cx="2333160" cy="238104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roof-label-0"/>
          <p:cNvSpPr/>
          <p:nvPr/>
        </p:nvSpPr>
        <p:spPr>
          <a:xfrm>
            <a:off x="914400" y="2476440"/>
            <a:ext cx="19522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Evidence 01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roof-body-0"/>
          <p:cNvSpPr/>
          <p:nvPr/>
        </p:nvSpPr>
        <p:spPr>
          <a:xfrm>
            <a:off x="914400" y="4000680"/>
            <a:ext cx="195228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Insert real screenshot, data, sample, or method proof here.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roof-frame-1"/>
          <p:cNvSpPr/>
          <p:nvPr/>
        </p:nvSpPr>
        <p:spPr>
          <a:xfrm>
            <a:off x="3362400" y="2286000"/>
            <a:ext cx="2333160" cy="2381040"/>
          </a:xfrm>
          <a:prstGeom prst="roundRect">
            <a:avLst>
              <a:gd name="adj" fmla="val 3265"/>
            </a:avLst>
          </a:prstGeom>
          <a:solidFill>
            <a:srgbClr val="E8F2EC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roof-label-1"/>
          <p:cNvSpPr/>
          <p:nvPr/>
        </p:nvSpPr>
        <p:spPr>
          <a:xfrm>
            <a:off x="3533760" y="2476440"/>
            <a:ext cx="19522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Evidence 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roof-body-1"/>
          <p:cNvSpPr/>
          <p:nvPr/>
        </p:nvSpPr>
        <p:spPr>
          <a:xfrm>
            <a:off x="3533760" y="4000680"/>
            <a:ext cx="195228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Insert real screenshot, data, sample, or method proof here.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roof-frame-2"/>
          <p:cNvSpPr/>
          <p:nvPr/>
        </p:nvSpPr>
        <p:spPr>
          <a:xfrm>
            <a:off x="5981760" y="2286000"/>
            <a:ext cx="2333160" cy="2381040"/>
          </a:xfrm>
          <a:prstGeom prst="roundRect">
            <a:avLst>
              <a:gd name="adj" fmla="val 3265"/>
            </a:avLst>
          </a:prstGeom>
          <a:solidFill>
            <a:srgbClr val="F6ECD2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roof-label-2"/>
          <p:cNvSpPr/>
          <p:nvPr/>
        </p:nvSpPr>
        <p:spPr>
          <a:xfrm>
            <a:off x="6153120" y="2476440"/>
            <a:ext cx="195228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07A4F"/>
                </a:solidFill>
                <a:effectLst/>
                <a:uFillTx/>
                <a:latin typeface="Calibri"/>
                <a:ea typeface="Calibri"/>
              </a:rPr>
              <a:t>Evidence 03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roof-body-2"/>
          <p:cNvSpPr/>
          <p:nvPr/>
        </p:nvSpPr>
        <p:spPr>
          <a:xfrm>
            <a:off x="6153120" y="4000680"/>
            <a:ext cx="195228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Insert real screenshot, data, sample, or method proof here.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roof-takeaway"/>
          <p:cNvSpPr/>
          <p:nvPr/>
        </p:nvSpPr>
        <p:spPr>
          <a:xfrm>
            <a:off x="8858160" y="2286000"/>
            <a:ext cx="2619000" cy="2381040"/>
          </a:xfrm>
          <a:prstGeom prst="roundRect">
            <a:avLst>
              <a:gd name="adj" fmla="val 4800"/>
            </a:avLst>
          </a:prstGeom>
          <a:solidFill>
            <a:srgbClr val="0E5E43"/>
          </a:solidFill>
          <a:ln w="9525">
            <a:solidFill>
              <a:srgbClr val="0E5E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proof-title"/>
          <p:cNvSpPr/>
          <p:nvPr/>
        </p:nvSpPr>
        <p:spPr>
          <a:xfrm>
            <a:off x="9144000" y="2619360"/>
            <a:ext cx="2095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 what?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roof-copy"/>
          <p:cNvSpPr/>
          <p:nvPr/>
        </p:nvSpPr>
        <p:spPr>
          <a:xfrm>
            <a:off x="9144000" y="3238560"/>
            <a:ext cx="2076120" cy="89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Write the commercial implication. Never show evidence without explaining what the client should conclude.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footer-line-6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footer-6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kicker-7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SOLUTION MODULES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age-7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07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itle-7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Each module needs a job, output, and metric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ubtitle-7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Avoid service lists by tying every module to business value.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module-1-card"/>
          <p:cNvSpPr/>
          <p:nvPr/>
        </p:nvSpPr>
        <p:spPr>
          <a:xfrm>
            <a:off x="781200" y="2333520"/>
            <a:ext cx="3333240" cy="2095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module-1-bar"/>
          <p:cNvSpPr/>
          <p:nvPr/>
        </p:nvSpPr>
        <p:spPr>
          <a:xfrm>
            <a:off x="781200" y="2333520"/>
            <a:ext cx="56880" cy="209520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module-1-label"/>
          <p:cNvSpPr/>
          <p:nvPr/>
        </p:nvSpPr>
        <p:spPr>
          <a:xfrm>
            <a:off x="990720" y="2505240"/>
            <a:ext cx="2914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Module 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odule-1-body"/>
          <p:cNvSpPr/>
          <p:nvPr/>
        </p:nvSpPr>
        <p:spPr>
          <a:xfrm>
            <a:off x="990720" y="2905200"/>
            <a:ext cx="2914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Target / method / output / metric.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odule-2-card"/>
          <p:cNvSpPr/>
          <p:nvPr/>
        </p:nvSpPr>
        <p:spPr>
          <a:xfrm>
            <a:off x="4419720" y="2333520"/>
            <a:ext cx="3333240" cy="2095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module-2-bar"/>
          <p:cNvSpPr/>
          <p:nvPr/>
        </p:nvSpPr>
        <p:spPr>
          <a:xfrm>
            <a:off x="4419720" y="2333520"/>
            <a:ext cx="56880" cy="2095200"/>
          </a:xfrm>
          <a:prstGeom prst="rect">
            <a:avLst/>
          </a:prstGeom>
          <a:solidFill>
            <a:srgbClr val="CDA34B"/>
          </a:solidFill>
          <a:ln w="0">
            <a:solidFill>
              <a:srgbClr val="CDA34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module-2-label"/>
          <p:cNvSpPr/>
          <p:nvPr/>
        </p:nvSpPr>
        <p:spPr>
          <a:xfrm>
            <a:off x="4629240" y="2505240"/>
            <a:ext cx="2914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Module 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module-2-body"/>
          <p:cNvSpPr/>
          <p:nvPr/>
        </p:nvSpPr>
        <p:spPr>
          <a:xfrm>
            <a:off x="4629240" y="2905200"/>
            <a:ext cx="2914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Target / method / output / metric.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module-3-card"/>
          <p:cNvSpPr/>
          <p:nvPr/>
        </p:nvSpPr>
        <p:spPr>
          <a:xfrm>
            <a:off x="8058240" y="2333520"/>
            <a:ext cx="3333240" cy="2095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odule-3-bar"/>
          <p:cNvSpPr/>
          <p:nvPr/>
        </p:nvSpPr>
        <p:spPr>
          <a:xfrm>
            <a:off x="8058240" y="2333520"/>
            <a:ext cx="56880" cy="2095200"/>
          </a:xfrm>
          <a:prstGeom prst="rect">
            <a:avLst/>
          </a:prstGeom>
          <a:solidFill>
            <a:srgbClr val="E07A4F"/>
          </a:solidFill>
          <a:ln w="0">
            <a:solidFill>
              <a:srgbClr val="E07A4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module-3-label"/>
          <p:cNvSpPr/>
          <p:nvPr/>
        </p:nvSpPr>
        <p:spPr>
          <a:xfrm>
            <a:off x="8267760" y="2505240"/>
            <a:ext cx="2914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E07A4F"/>
                </a:solidFill>
                <a:effectLst/>
                <a:uFillTx/>
                <a:latin typeface="Calibri"/>
                <a:ea typeface="Calibri"/>
              </a:rPr>
              <a:t>Module 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odule-3-body"/>
          <p:cNvSpPr/>
          <p:nvPr/>
        </p:nvSpPr>
        <p:spPr>
          <a:xfrm>
            <a:off x="8267760" y="2905200"/>
            <a:ext cx="2914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Target / method / output / metric.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odule-strip"/>
          <p:cNvSpPr/>
          <p:nvPr/>
        </p:nvSpPr>
        <p:spPr>
          <a:xfrm>
            <a:off x="781200" y="4905360"/>
            <a:ext cx="10610640" cy="590040"/>
          </a:xfrm>
          <a:prstGeom prst="roundRect">
            <a:avLst>
              <a:gd name="adj" fmla="val 12903"/>
            </a:avLst>
          </a:prstGeom>
          <a:solidFill>
            <a:srgbClr val="E7F0F4"/>
          </a:solidFill>
          <a:ln w="9525">
            <a:solidFill>
              <a:srgbClr val="CFE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odule-strip-text"/>
          <p:cNvSpPr/>
          <p:nvPr/>
        </p:nvSpPr>
        <p:spPr>
          <a:xfrm>
            <a:off x="1066680" y="5105520"/>
            <a:ext cx="10000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D83A5"/>
                </a:solidFill>
                <a:effectLst/>
                <a:uFillTx/>
                <a:latin typeface="Calibri"/>
                <a:ea typeface="Calibri"/>
              </a:rPr>
              <a:t>Bottom strip: summarize how modules connect instead of leaving the lower third blank.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footer-line-7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footer-7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kicker-8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EXECUTION ROADMAP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age-8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08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itle-8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Show progression, not just dates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ubtitle-8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Use phases to prove control, learning, and scale.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oad-bar-0"/>
          <p:cNvSpPr/>
          <p:nvPr/>
        </p:nvSpPr>
        <p:spPr>
          <a:xfrm>
            <a:off x="857160" y="2571840"/>
            <a:ext cx="2190240" cy="7596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oad-time-0"/>
          <p:cNvSpPr/>
          <p:nvPr/>
        </p:nvSpPr>
        <p:spPr>
          <a:xfrm>
            <a:off x="857160" y="2857680"/>
            <a:ext cx="2190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0E5E43"/>
                </a:solidFill>
                <a:effectLst/>
                <a:uFillTx/>
                <a:latin typeface="Calibri"/>
                <a:ea typeface="Calibri"/>
              </a:rPr>
              <a:t>W1-2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ad-label-0"/>
          <p:cNvSpPr/>
          <p:nvPr/>
        </p:nvSpPr>
        <p:spPr>
          <a:xfrm>
            <a:off x="857160" y="333360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Set up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oad-body-0"/>
          <p:cNvSpPr/>
          <p:nvPr/>
        </p:nvSpPr>
        <p:spPr>
          <a:xfrm>
            <a:off x="857160" y="3809880"/>
            <a:ext cx="219024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Key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Deliverables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Review point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ad-bar-1"/>
          <p:cNvSpPr/>
          <p:nvPr/>
        </p:nvSpPr>
        <p:spPr>
          <a:xfrm>
            <a:off x="3524400" y="2571840"/>
            <a:ext cx="2190240" cy="75960"/>
          </a:xfrm>
          <a:prstGeom prst="rect">
            <a:avLst/>
          </a:prstGeom>
          <a:solidFill>
            <a:srgbClr val="CDA34B"/>
          </a:solidFill>
          <a:ln w="0">
            <a:solidFill>
              <a:srgbClr val="CDA34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ad-time-1"/>
          <p:cNvSpPr/>
          <p:nvPr/>
        </p:nvSpPr>
        <p:spPr>
          <a:xfrm>
            <a:off x="3524400" y="2857680"/>
            <a:ext cx="2190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W3-4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oad-label-1"/>
          <p:cNvSpPr/>
          <p:nvPr/>
        </p:nvSpPr>
        <p:spPr>
          <a:xfrm>
            <a:off x="3524400" y="333360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ad-body-1"/>
          <p:cNvSpPr/>
          <p:nvPr/>
        </p:nvSpPr>
        <p:spPr>
          <a:xfrm>
            <a:off x="3524400" y="3809880"/>
            <a:ext cx="219024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Key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Deliverables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Review point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ad-bar-2"/>
          <p:cNvSpPr/>
          <p:nvPr/>
        </p:nvSpPr>
        <p:spPr>
          <a:xfrm>
            <a:off x="6191280" y="2571840"/>
            <a:ext cx="2190240" cy="75960"/>
          </a:xfrm>
          <a:prstGeom prst="rect">
            <a:avLst/>
          </a:prstGeom>
          <a:solidFill>
            <a:srgbClr val="E07A4F"/>
          </a:solidFill>
          <a:ln w="0">
            <a:solidFill>
              <a:srgbClr val="E07A4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oad-time-2"/>
          <p:cNvSpPr/>
          <p:nvPr/>
        </p:nvSpPr>
        <p:spPr>
          <a:xfrm>
            <a:off x="6191280" y="2857680"/>
            <a:ext cx="2190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E07A4F"/>
                </a:solidFill>
                <a:effectLst/>
                <a:uFillTx/>
                <a:latin typeface="Calibri"/>
                <a:ea typeface="Calibri"/>
              </a:rPr>
              <a:t>W5-8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ad-label-2"/>
          <p:cNvSpPr/>
          <p:nvPr/>
        </p:nvSpPr>
        <p:spPr>
          <a:xfrm>
            <a:off x="6191280" y="333360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Scale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ad-body-2"/>
          <p:cNvSpPr/>
          <p:nvPr/>
        </p:nvSpPr>
        <p:spPr>
          <a:xfrm>
            <a:off x="6191280" y="3809880"/>
            <a:ext cx="219024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Key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Deliverables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Review point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ad-bar-3"/>
          <p:cNvSpPr/>
          <p:nvPr/>
        </p:nvSpPr>
        <p:spPr>
          <a:xfrm>
            <a:off x="8858160" y="2571840"/>
            <a:ext cx="2190240" cy="75960"/>
          </a:xfrm>
          <a:prstGeom prst="rect">
            <a:avLst/>
          </a:prstGeom>
          <a:solidFill>
            <a:srgbClr val="3D83A5"/>
          </a:solidFill>
          <a:ln w="0">
            <a:solidFill>
              <a:srgbClr val="3D83A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road-time-3"/>
          <p:cNvSpPr/>
          <p:nvPr/>
        </p:nvSpPr>
        <p:spPr>
          <a:xfrm>
            <a:off x="8858160" y="2857680"/>
            <a:ext cx="21902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3D83A5"/>
                </a:solidFill>
                <a:effectLst/>
                <a:uFillTx/>
                <a:latin typeface="Calibri"/>
                <a:ea typeface="Calibri"/>
              </a:rPr>
              <a:t>W9+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oad-label-3"/>
          <p:cNvSpPr/>
          <p:nvPr/>
        </p:nvSpPr>
        <p:spPr>
          <a:xfrm>
            <a:off x="8858160" y="3333600"/>
            <a:ext cx="219024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Review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ad-body-3"/>
          <p:cNvSpPr/>
          <p:nvPr/>
        </p:nvSpPr>
        <p:spPr>
          <a:xfrm>
            <a:off x="8858160" y="3809880"/>
            <a:ext cx="219024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Key actions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Deliverables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Review point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oad-conclusion"/>
          <p:cNvSpPr/>
          <p:nvPr/>
        </p:nvSpPr>
        <p:spPr>
          <a:xfrm>
            <a:off x="1619280" y="5429160"/>
            <a:ext cx="8953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A roadmap should reveal the operating logic: learn first, scale second, package results last.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footer-line-8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footer-8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kicker-9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BUDGET STRUCTURE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age-9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09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itle-9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Make every amount readable as a commitment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ubtitle-9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Connect money to purpose, deliverable, acceptance, and exclusions.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budget-head-0"/>
          <p:cNvSpPr/>
          <p:nvPr/>
        </p:nvSpPr>
        <p:spPr>
          <a:xfrm>
            <a:off x="743040" y="2238480"/>
            <a:ext cx="1523520" cy="38052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budget-head-text-0"/>
          <p:cNvSpPr/>
          <p:nvPr/>
        </p:nvSpPr>
        <p:spPr>
          <a:xfrm>
            <a:off x="838080" y="2343240"/>
            <a:ext cx="13330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budget-head-1"/>
          <p:cNvSpPr/>
          <p:nvPr/>
        </p:nvSpPr>
        <p:spPr>
          <a:xfrm>
            <a:off x="2266920" y="2238480"/>
            <a:ext cx="2190240" cy="38052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budget-head-text-1"/>
          <p:cNvSpPr/>
          <p:nvPr/>
        </p:nvSpPr>
        <p:spPr>
          <a:xfrm>
            <a:off x="2362320" y="2343240"/>
            <a:ext cx="1999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Purpose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budget-head-2"/>
          <p:cNvSpPr/>
          <p:nvPr/>
        </p:nvSpPr>
        <p:spPr>
          <a:xfrm>
            <a:off x="4457880" y="2238480"/>
            <a:ext cx="2476080" cy="38052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budget-head-text-2"/>
          <p:cNvSpPr/>
          <p:nvPr/>
        </p:nvSpPr>
        <p:spPr>
          <a:xfrm>
            <a:off x="4552920" y="2343240"/>
            <a:ext cx="228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Deliverable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budget-head-3"/>
          <p:cNvSpPr/>
          <p:nvPr/>
        </p:nvSpPr>
        <p:spPr>
          <a:xfrm>
            <a:off x="6934320" y="2238480"/>
            <a:ext cx="2190240" cy="38052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budget-head-text-3"/>
          <p:cNvSpPr/>
          <p:nvPr/>
        </p:nvSpPr>
        <p:spPr>
          <a:xfrm>
            <a:off x="7029360" y="2343240"/>
            <a:ext cx="1999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Acceptance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budget-head-4"/>
          <p:cNvSpPr/>
          <p:nvPr/>
        </p:nvSpPr>
        <p:spPr>
          <a:xfrm>
            <a:off x="9124920" y="2238480"/>
            <a:ext cx="2095200" cy="38052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budget-head-text-4"/>
          <p:cNvSpPr/>
          <p:nvPr/>
        </p:nvSpPr>
        <p:spPr>
          <a:xfrm>
            <a:off x="9220320" y="2343240"/>
            <a:ext cx="1904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Exclusions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budget-row-0-0"/>
          <p:cNvSpPr/>
          <p:nvPr/>
        </p:nvSpPr>
        <p:spPr>
          <a:xfrm>
            <a:off x="743040" y="2619360"/>
            <a:ext cx="152352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budget-border-0-0"/>
          <p:cNvSpPr/>
          <p:nvPr/>
        </p:nvSpPr>
        <p:spPr>
          <a:xfrm>
            <a:off x="743040" y="2619360"/>
            <a:ext cx="152352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budget-text-0-0"/>
          <p:cNvSpPr/>
          <p:nvPr/>
        </p:nvSpPr>
        <p:spPr>
          <a:xfrm>
            <a:off x="838080" y="2790720"/>
            <a:ext cx="133308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budget-row-0-1"/>
          <p:cNvSpPr/>
          <p:nvPr/>
        </p:nvSpPr>
        <p:spPr>
          <a:xfrm>
            <a:off x="2266920" y="2619360"/>
            <a:ext cx="219024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budget-border-0-1"/>
          <p:cNvSpPr/>
          <p:nvPr/>
        </p:nvSpPr>
        <p:spPr>
          <a:xfrm>
            <a:off x="2266920" y="261936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budget-text-0-1"/>
          <p:cNvSpPr/>
          <p:nvPr/>
        </p:nvSpPr>
        <p:spPr>
          <a:xfrm>
            <a:off x="2362320" y="279072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budget-row-0-2"/>
          <p:cNvSpPr/>
          <p:nvPr/>
        </p:nvSpPr>
        <p:spPr>
          <a:xfrm>
            <a:off x="4457880" y="2619360"/>
            <a:ext cx="247608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budget-border-0-2"/>
          <p:cNvSpPr/>
          <p:nvPr/>
        </p:nvSpPr>
        <p:spPr>
          <a:xfrm>
            <a:off x="4457880" y="2619360"/>
            <a:ext cx="247608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budget-text-0-2"/>
          <p:cNvSpPr/>
          <p:nvPr/>
        </p:nvSpPr>
        <p:spPr>
          <a:xfrm>
            <a:off x="4552920" y="279072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budget-row-0-3"/>
          <p:cNvSpPr/>
          <p:nvPr/>
        </p:nvSpPr>
        <p:spPr>
          <a:xfrm>
            <a:off x="6934320" y="2619360"/>
            <a:ext cx="219024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budget-border-0-3"/>
          <p:cNvSpPr/>
          <p:nvPr/>
        </p:nvSpPr>
        <p:spPr>
          <a:xfrm>
            <a:off x="6934320" y="261936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budget-text-0-3"/>
          <p:cNvSpPr/>
          <p:nvPr/>
        </p:nvSpPr>
        <p:spPr>
          <a:xfrm>
            <a:off x="7029360" y="279072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budget-row-0-4"/>
          <p:cNvSpPr/>
          <p:nvPr/>
        </p:nvSpPr>
        <p:spPr>
          <a:xfrm>
            <a:off x="9124920" y="2619360"/>
            <a:ext cx="209520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budget-border-0-4"/>
          <p:cNvSpPr/>
          <p:nvPr/>
        </p:nvSpPr>
        <p:spPr>
          <a:xfrm>
            <a:off x="9124920" y="2619360"/>
            <a:ext cx="209520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budget-text-0-4"/>
          <p:cNvSpPr/>
          <p:nvPr/>
        </p:nvSpPr>
        <p:spPr>
          <a:xfrm>
            <a:off x="9220320" y="2790720"/>
            <a:ext cx="19047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Placeholder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budget-row-1-0"/>
          <p:cNvSpPr/>
          <p:nvPr/>
        </p:nvSpPr>
        <p:spPr>
          <a:xfrm>
            <a:off x="743040" y="3133800"/>
            <a:ext cx="152352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budget-border-1-0"/>
          <p:cNvSpPr/>
          <p:nvPr/>
        </p:nvSpPr>
        <p:spPr>
          <a:xfrm>
            <a:off x="743040" y="3133800"/>
            <a:ext cx="152352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budget-text-1-0"/>
          <p:cNvSpPr/>
          <p:nvPr/>
        </p:nvSpPr>
        <p:spPr>
          <a:xfrm>
            <a:off x="838080" y="3305160"/>
            <a:ext cx="133308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budget-row-1-1"/>
          <p:cNvSpPr/>
          <p:nvPr/>
        </p:nvSpPr>
        <p:spPr>
          <a:xfrm>
            <a:off x="2266920" y="3133800"/>
            <a:ext cx="219024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budget-border-1-1"/>
          <p:cNvSpPr/>
          <p:nvPr/>
        </p:nvSpPr>
        <p:spPr>
          <a:xfrm>
            <a:off x="2266920" y="313380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budget-text-1-1"/>
          <p:cNvSpPr/>
          <p:nvPr/>
        </p:nvSpPr>
        <p:spPr>
          <a:xfrm>
            <a:off x="2362320" y="330516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budget-row-1-2"/>
          <p:cNvSpPr/>
          <p:nvPr/>
        </p:nvSpPr>
        <p:spPr>
          <a:xfrm>
            <a:off x="4457880" y="3133800"/>
            <a:ext cx="247608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budget-border-1-2"/>
          <p:cNvSpPr/>
          <p:nvPr/>
        </p:nvSpPr>
        <p:spPr>
          <a:xfrm>
            <a:off x="4457880" y="3133800"/>
            <a:ext cx="247608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budget-text-1-2"/>
          <p:cNvSpPr/>
          <p:nvPr/>
        </p:nvSpPr>
        <p:spPr>
          <a:xfrm>
            <a:off x="4552920" y="330516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budget-row-1-3"/>
          <p:cNvSpPr/>
          <p:nvPr/>
        </p:nvSpPr>
        <p:spPr>
          <a:xfrm>
            <a:off x="6934320" y="3133800"/>
            <a:ext cx="219024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budget-border-1-3"/>
          <p:cNvSpPr/>
          <p:nvPr/>
        </p:nvSpPr>
        <p:spPr>
          <a:xfrm>
            <a:off x="6934320" y="313380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budget-text-1-3"/>
          <p:cNvSpPr/>
          <p:nvPr/>
        </p:nvSpPr>
        <p:spPr>
          <a:xfrm>
            <a:off x="7029360" y="330516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budget-row-1-4"/>
          <p:cNvSpPr/>
          <p:nvPr/>
        </p:nvSpPr>
        <p:spPr>
          <a:xfrm>
            <a:off x="9124920" y="3133800"/>
            <a:ext cx="209520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budget-border-1-4"/>
          <p:cNvSpPr/>
          <p:nvPr/>
        </p:nvSpPr>
        <p:spPr>
          <a:xfrm>
            <a:off x="9124920" y="3133800"/>
            <a:ext cx="209520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budget-text-1-4"/>
          <p:cNvSpPr/>
          <p:nvPr/>
        </p:nvSpPr>
        <p:spPr>
          <a:xfrm>
            <a:off x="9220320" y="3305160"/>
            <a:ext cx="19047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budget-row-2-0"/>
          <p:cNvSpPr/>
          <p:nvPr/>
        </p:nvSpPr>
        <p:spPr>
          <a:xfrm>
            <a:off x="743040" y="3648240"/>
            <a:ext cx="152352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budget-border-2-0"/>
          <p:cNvSpPr/>
          <p:nvPr/>
        </p:nvSpPr>
        <p:spPr>
          <a:xfrm>
            <a:off x="743040" y="3648240"/>
            <a:ext cx="152352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budget-text-2-0"/>
          <p:cNvSpPr/>
          <p:nvPr/>
        </p:nvSpPr>
        <p:spPr>
          <a:xfrm>
            <a:off x="838080" y="3819600"/>
            <a:ext cx="133308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budget-row-2-1"/>
          <p:cNvSpPr/>
          <p:nvPr/>
        </p:nvSpPr>
        <p:spPr>
          <a:xfrm>
            <a:off x="2266920" y="3648240"/>
            <a:ext cx="219024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budget-border-2-1"/>
          <p:cNvSpPr/>
          <p:nvPr/>
        </p:nvSpPr>
        <p:spPr>
          <a:xfrm>
            <a:off x="2266920" y="364824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budget-text-2-1"/>
          <p:cNvSpPr/>
          <p:nvPr/>
        </p:nvSpPr>
        <p:spPr>
          <a:xfrm>
            <a:off x="2362320" y="381960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budget-row-2-2"/>
          <p:cNvSpPr/>
          <p:nvPr/>
        </p:nvSpPr>
        <p:spPr>
          <a:xfrm>
            <a:off x="4457880" y="3648240"/>
            <a:ext cx="247608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budget-border-2-2"/>
          <p:cNvSpPr/>
          <p:nvPr/>
        </p:nvSpPr>
        <p:spPr>
          <a:xfrm>
            <a:off x="4457880" y="3648240"/>
            <a:ext cx="247608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budget-text-2-2"/>
          <p:cNvSpPr/>
          <p:nvPr/>
        </p:nvSpPr>
        <p:spPr>
          <a:xfrm>
            <a:off x="4552920" y="381960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budget-row-2-3"/>
          <p:cNvSpPr/>
          <p:nvPr/>
        </p:nvSpPr>
        <p:spPr>
          <a:xfrm>
            <a:off x="6934320" y="3648240"/>
            <a:ext cx="219024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budget-border-2-3"/>
          <p:cNvSpPr/>
          <p:nvPr/>
        </p:nvSpPr>
        <p:spPr>
          <a:xfrm>
            <a:off x="6934320" y="364824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budget-text-2-3"/>
          <p:cNvSpPr/>
          <p:nvPr/>
        </p:nvSpPr>
        <p:spPr>
          <a:xfrm>
            <a:off x="7029360" y="381960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budget-row-2-4"/>
          <p:cNvSpPr/>
          <p:nvPr/>
        </p:nvSpPr>
        <p:spPr>
          <a:xfrm>
            <a:off x="9124920" y="3648240"/>
            <a:ext cx="2095200" cy="51408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budget-border-2-4"/>
          <p:cNvSpPr/>
          <p:nvPr/>
        </p:nvSpPr>
        <p:spPr>
          <a:xfrm>
            <a:off x="9124920" y="3648240"/>
            <a:ext cx="209520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budget-text-2-4"/>
          <p:cNvSpPr/>
          <p:nvPr/>
        </p:nvSpPr>
        <p:spPr>
          <a:xfrm>
            <a:off x="9220320" y="3819600"/>
            <a:ext cx="19047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budget-row-3-0"/>
          <p:cNvSpPr/>
          <p:nvPr/>
        </p:nvSpPr>
        <p:spPr>
          <a:xfrm>
            <a:off x="743040" y="4162320"/>
            <a:ext cx="152352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budget-border-3-0"/>
          <p:cNvSpPr/>
          <p:nvPr/>
        </p:nvSpPr>
        <p:spPr>
          <a:xfrm>
            <a:off x="743040" y="4162320"/>
            <a:ext cx="152352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budget-text-3-0"/>
          <p:cNvSpPr/>
          <p:nvPr/>
        </p:nvSpPr>
        <p:spPr>
          <a:xfrm>
            <a:off x="838080" y="4334040"/>
            <a:ext cx="133308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budget-row-3-1"/>
          <p:cNvSpPr/>
          <p:nvPr/>
        </p:nvSpPr>
        <p:spPr>
          <a:xfrm>
            <a:off x="2266920" y="4162320"/>
            <a:ext cx="219024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budget-border-3-1"/>
          <p:cNvSpPr/>
          <p:nvPr/>
        </p:nvSpPr>
        <p:spPr>
          <a:xfrm>
            <a:off x="2266920" y="416232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budget-text-3-1"/>
          <p:cNvSpPr/>
          <p:nvPr/>
        </p:nvSpPr>
        <p:spPr>
          <a:xfrm>
            <a:off x="2362320" y="433404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budget-row-3-2"/>
          <p:cNvSpPr/>
          <p:nvPr/>
        </p:nvSpPr>
        <p:spPr>
          <a:xfrm>
            <a:off x="4457880" y="4162320"/>
            <a:ext cx="247608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budget-border-3-2"/>
          <p:cNvSpPr/>
          <p:nvPr/>
        </p:nvSpPr>
        <p:spPr>
          <a:xfrm>
            <a:off x="4457880" y="4162320"/>
            <a:ext cx="247608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budget-text-3-2"/>
          <p:cNvSpPr/>
          <p:nvPr/>
        </p:nvSpPr>
        <p:spPr>
          <a:xfrm>
            <a:off x="4552920" y="433404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budget-row-3-3"/>
          <p:cNvSpPr/>
          <p:nvPr/>
        </p:nvSpPr>
        <p:spPr>
          <a:xfrm>
            <a:off x="6934320" y="4162320"/>
            <a:ext cx="219024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budget-border-3-3"/>
          <p:cNvSpPr/>
          <p:nvPr/>
        </p:nvSpPr>
        <p:spPr>
          <a:xfrm>
            <a:off x="6934320" y="4162320"/>
            <a:ext cx="219024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budget-text-3-3"/>
          <p:cNvSpPr/>
          <p:nvPr/>
        </p:nvSpPr>
        <p:spPr>
          <a:xfrm>
            <a:off x="7029360" y="4334040"/>
            <a:ext cx="199980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budget-row-3-4"/>
          <p:cNvSpPr/>
          <p:nvPr/>
        </p:nvSpPr>
        <p:spPr>
          <a:xfrm>
            <a:off x="9124920" y="4162320"/>
            <a:ext cx="2095200" cy="5140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budget-border-3-4"/>
          <p:cNvSpPr/>
          <p:nvPr/>
        </p:nvSpPr>
        <p:spPr>
          <a:xfrm>
            <a:off x="9124920" y="4162320"/>
            <a:ext cx="2095200" cy="51408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budget-text-3-4"/>
          <p:cNvSpPr/>
          <p:nvPr/>
        </p:nvSpPr>
        <p:spPr>
          <a:xfrm>
            <a:off x="9220320" y="4334040"/>
            <a:ext cx="19047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TBC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budget-insight"/>
          <p:cNvSpPr/>
          <p:nvPr/>
        </p:nvSpPr>
        <p:spPr>
          <a:xfrm>
            <a:off x="743040" y="4809960"/>
            <a:ext cx="10477080" cy="742680"/>
          </a:xfrm>
          <a:prstGeom prst="roundRect">
            <a:avLst>
              <a:gd name="adj" fmla="val 10256"/>
            </a:avLst>
          </a:prstGeom>
          <a:solidFill>
            <a:srgbClr val="093F2E"/>
          </a:solidFill>
          <a:ln w="9525">
            <a:solidFill>
              <a:srgbClr val="093F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budget-insight-text"/>
          <p:cNvSpPr/>
          <p:nvPr/>
        </p:nvSpPr>
        <p:spPr>
          <a:xfrm>
            <a:off x="1047600" y="5067360"/>
            <a:ext cx="9867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 strip: state the budget logic, trade-off, and pending assumptions here.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footer-line-9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footer-9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kicker-10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RISK CONTROL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age-10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itle-10"/>
          <p:cNvSpPr/>
          <p:nvPr/>
        </p:nvSpPr>
        <p:spPr>
          <a:xfrm>
            <a:off x="666720" y="723960"/>
            <a:ext cx="857232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2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Turn uncertainty into managed action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ubtitle-10"/>
          <p:cNvSpPr/>
          <p:nvPr/>
        </p:nvSpPr>
        <p:spPr>
          <a:xfrm>
            <a:off x="666720" y="1523880"/>
            <a:ext cx="790524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Every risk needs a trigger, owner, and response.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isk-head-0"/>
          <p:cNvSpPr/>
          <p:nvPr/>
        </p:nvSpPr>
        <p:spPr>
          <a:xfrm>
            <a:off x="952560" y="2286000"/>
            <a:ext cx="2571480" cy="399600"/>
          </a:xfrm>
          <a:prstGeom prst="rect">
            <a:avLst/>
          </a:prstGeom>
          <a:solidFill>
            <a:srgbClr val="B94E3B"/>
          </a:solidFill>
          <a:ln w="0">
            <a:solidFill>
              <a:srgbClr val="B94E3B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risk-head-text-0"/>
          <p:cNvSpPr/>
          <p:nvPr/>
        </p:nvSpPr>
        <p:spPr>
          <a:xfrm>
            <a:off x="1085760" y="2400480"/>
            <a:ext cx="2304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Risk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isk-head-1"/>
          <p:cNvSpPr/>
          <p:nvPr/>
        </p:nvSpPr>
        <p:spPr>
          <a:xfrm>
            <a:off x="3524400" y="2286000"/>
            <a:ext cx="2381040" cy="399600"/>
          </a:xfrm>
          <a:prstGeom prst="rect">
            <a:avLst/>
          </a:prstGeom>
          <a:solidFill>
            <a:srgbClr val="8E6B2F"/>
          </a:solidFill>
          <a:ln w="0">
            <a:solidFill>
              <a:srgbClr val="8E6B2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risk-head-text-1"/>
          <p:cNvSpPr/>
          <p:nvPr/>
        </p:nvSpPr>
        <p:spPr>
          <a:xfrm>
            <a:off x="3657600" y="2400480"/>
            <a:ext cx="2114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Trigger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isk-head-2"/>
          <p:cNvSpPr/>
          <p:nvPr/>
        </p:nvSpPr>
        <p:spPr>
          <a:xfrm>
            <a:off x="5905440" y="2286000"/>
            <a:ext cx="2857320" cy="399600"/>
          </a:xfrm>
          <a:prstGeom prst="rect">
            <a:avLst/>
          </a:prstGeom>
          <a:solidFill>
            <a:srgbClr val="0E5E43"/>
          </a:solidFill>
          <a:ln w="0">
            <a:solidFill>
              <a:srgbClr val="0E5E4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risk-head-text-2"/>
          <p:cNvSpPr/>
          <p:nvPr/>
        </p:nvSpPr>
        <p:spPr>
          <a:xfrm>
            <a:off x="6039000" y="2400480"/>
            <a:ext cx="2590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Response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isk-head-3"/>
          <p:cNvSpPr/>
          <p:nvPr/>
        </p:nvSpPr>
        <p:spPr>
          <a:xfrm>
            <a:off x="8763120" y="2286000"/>
            <a:ext cx="2095200" cy="399600"/>
          </a:xfrm>
          <a:prstGeom prst="rect">
            <a:avLst/>
          </a:prstGeom>
          <a:solidFill>
            <a:srgbClr val="3D83A5"/>
          </a:solidFill>
          <a:ln w="0">
            <a:solidFill>
              <a:srgbClr val="3D83A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risk-head-text-3"/>
          <p:cNvSpPr/>
          <p:nvPr/>
        </p:nvSpPr>
        <p:spPr>
          <a:xfrm>
            <a:off x="8896320" y="2400480"/>
            <a:ext cx="1828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Owner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isk-cell-0-0"/>
          <p:cNvSpPr/>
          <p:nvPr/>
        </p:nvSpPr>
        <p:spPr>
          <a:xfrm>
            <a:off x="952560" y="2685960"/>
            <a:ext cx="257148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isk-border-0-0"/>
          <p:cNvSpPr/>
          <p:nvPr/>
        </p:nvSpPr>
        <p:spPr>
          <a:xfrm>
            <a:off x="952560" y="2685960"/>
            <a:ext cx="257148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isk-text-0-0"/>
          <p:cNvSpPr/>
          <p:nvPr/>
        </p:nvSpPr>
        <p:spPr>
          <a:xfrm>
            <a:off x="1085760" y="2933640"/>
            <a:ext cx="2304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94E3B"/>
                </a:solidFill>
                <a:effectLst/>
                <a:uFillTx/>
                <a:latin typeface="Calibri"/>
                <a:ea typeface="Calibri"/>
              </a:rPr>
              <a:t>Brand safety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isk-cell-0-1"/>
          <p:cNvSpPr/>
          <p:nvPr/>
        </p:nvSpPr>
        <p:spPr>
          <a:xfrm>
            <a:off x="3524400" y="2685960"/>
            <a:ext cx="238104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isk-border-0-1"/>
          <p:cNvSpPr/>
          <p:nvPr/>
        </p:nvSpPr>
        <p:spPr>
          <a:xfrm>
            <a:off x="3524400" y="2685960"/>
            <a:ext cx="238104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isk-text-0-1"/>
          <p:cNvSpPr/>
          <p:nvPr/>
        </p:nvSpPr>
        <p:spPr>
          <a:xfrm>
            <a:off x="3657600" y="2933640"/>
            <a:ext cx="211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Trigger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isk-cell-0-2"/>
          <p:cNvSpPr/>
          <p:nvPr/>
        </p:nvSpPr>
        <p:spPr>
          <a:xfrm>
            <a:off x="5905440" y="2685960"/>
            <a:ext cx="285732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isk-border-0-2"/>
          <p:cNvSpPr/>
          <p:nvPr/>
        </p:nvSpPr>
        <p:spPr>
          <a:xfrm>
            <a:off x="5905440" y="2685960"/>
            <a:ext cx="285732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isk-text-0-2"/>
          <p:cNvSpPr/>
          <p:nvPr/>
        </p:nvSpPr>
        <p:spPr>
          <a:xfrm>
            <a:off x="6039000" y="2933640"/>
            <a:ext cx="2590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Response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isk-cell-0-3"/>
          <p:cNvSpPr/>
          <p:nvPr/>
        </p:nvSpPr>
        <p:spPr>
          <a:xfrm>
            <a:off x="8763120" y="2685960"/>
            <a:ext cx="209520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isk-border-0-3"/>
          <p:cNvSpPr/>
          <p:nvPr/>
        </p:nvSpPr>
        <p:spPr>
          <a:xfrm>
            <a:off x="8763120" y="2685960"/>
            <a:ext cx="209520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isk-text-0-3"/>
          <p:cNvSpPr/>
          <p:nvPr/>
        </p:nvSpPr>
        <p:spPr>
          <a:xfrm>
            <a:off x="8896320" y="2933640"/>
            <a:ext cx="1828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Owner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isk-cell-1-0"/>
          <p:cNvSpPr/>
          <p:nvPr/>
        </p:nvSpPr>
        <p:spPr>
          <a:xfrm>
            <a:off x="952560" y="3371760"/>
            <a:ext cx="2571480" cy="6854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isk-border-1-0"/>
          <p:cNvSpPr/>
          <p:nvPr/>
        </p:nvSpPr>
        <p:spPr>
          <a:xfrm>
            <a:off x="952560" y="3371760"/>
            <a:ext cx="257148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isk-text-1-0"/>
          <p:cNvSpPr/>
          <p:nvPr/>
        </p:nvSpPr>
        <p:spPr>
          <a:xfrm>
            <a:off x="1085760" y="3619440"/>
            <a:ext cx="2304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94E3B"/>
                </a:solidFill>
                <a:effectLst/>
                <a:uFillTx/>
                <a:latin typeface="Calibri"/>
                <a:ea typeface="Calibri"/>
              </a:rPr>
              <a:t>Schedule delay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isk-cell-1-1"/>
          <p:cNvSpPr/>
          <p:nvPr/>
        </p:nvSpPr>
        <p:spPr>
          <a:xfrm>
            <a:off x="3524400" y="3371760"/>
            <a:ext cx="2381040" cy="6854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isk-border-1-1"/>
          <p:cNvSpPr/>
          <p:nvPr/>
        </p:nvSpPr>
        <p:spPr>
          <a:xfrm>
            <a:off x="3524400" y="3371760"/>
            <a:ext cx="238104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isk-text-1-1"/>
          <p:cNvSpPr/>
          <p:nvPr/>
        </p:nvSpPr>
        <p:spPr>
          <a:xfrm>
            <a:off x="3657600" y="3619440"/>
            <a:ext cx="211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Trigger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isk-cell-1-2"/>
          <p:cNvSpPr/>
          <p:nvPr/>
        </p:nvSpPr>
        <p:spPr>
          <a:xfrm>
            <a:off x="5905440" y="3371760"/>
            <a:ext cx="2857320" cy="6854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isk-border-1-2"/>
          <p:cNvSpPr/>
          <p:nvPr/>
        </p:nvSpPr>
        <p:spPr>
          <a:xfrm>
            <a:off x="5905440" y="3371760"/>
            <a:ext cx="285732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isk-text-1-2"/>
          <p:cNvSpPr/>
          <p:nvPr/>
        </p:nvSpPr>
        <p:spPr>
          <a:xfrm>
            <a:off x="6039000" y="3619440"/>
            <a:ext cx="2590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Response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isk-cell-1-3"/>
          <p:cNvSpPr/>
          <p:nvPr/>
        </p:nvSpPr>
        <p:spPr>
          <a:xfrm>
            <a:off x="8763120" y="3371760"/>
            <a:ext cx="2095200" cy="6854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isk-border-1-3"/>
          <p:cNvSpPr/>
          <p:nvPr/>
        </p:nvSpPr>
        <p:spPr>
          <a:xfrm>
            <a:off x="8763120" y="3371760"/>
            <a:ext cx="209520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isk-text-1-3"/>
          <p:cNvSpPr/>
          <p:nvPr/>
        </p:nvSpPr>
        <p:spPr>
          <a:xfrm>
            <a:off x="8896320" y="3619440"/>
            <a:ext cx="1828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Owner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isk-cell-2-0"/>
          <p:cNvSpPr/>
          <p:nvPr/>
        </p:nvSpPr>
        <p:spPr>
          <a:xfrm>
            <a:off x="952560" y="4057560"/>
            <a:ext cx="257148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isk-border-2-0"/>
          <p:cNvSpPr/>
          <p:nvPr/>
        </p:nvSpPr>
        <p:spPr>
          <a:xfrm>
            <a:off x="952560" y="4057560"/>
            <a:ext cx="257148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isk-text-2-0"/>
          <p:cNvSpPr/>
          <p:nvPr/>
        </p:nvSpPr>
        <p:spPr>
          <a:xfrm>
            <a:off x="1085760" y="4305240"/>
            <a:ext cx="2304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B94E3B"/>
                </a:solidFill>
                <a:effectLst/>
                <a:uFillTx/>
                <a:latin typeface="Calibri"/>
                <a:ea typeface="Calibri"/>
              </a:rPr>
              <a:t>Budget variance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isk-cell-2-1"/>
          <p:cNvSpPr/>
          <p:nvPr/>
        </p:nvSpPr>
        <p:spPr>
          <a:xfrm>
            <a:off x="3524400" y="4057560"/>
            <a:ext cx="238104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isk-border-2-1"/>
          <p:cNvSpPr/>
          <p:nvPr/>
        </p:nvSpPr>
        <p:spPr>
          <a:xfrm>
            <a:off x="3524400" y="4057560"/>
            <a:ext cx="238104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isk-text-2-1"/>
          <p:cNvSpPr/>
          <p:nvPr/>
        </p:nvSpPr>
        <p:spPr>
          <a:xfrm>
            <a:off x="3657600" y="4305240"/>
            <a:ext cx="211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Trigger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isk-cell-2-2"/>
          <p:cNvSpPr/>
          <p:nvPr/>
        </p:nvSpPr>
        <p:spPr>
          <a:xfrm>
            <a:off x="5905440" y="4057560"/>
            <a:ext cx="285732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isk-border-2-2"/>
          <p:cNvSpPr/>
          <p:nvPr/>
        </p:nvSpPr>
        <p:spPr>
          <a:xfrm>
            <a:off x="5905440" y="4057560"/>
            <a:ext cx="285732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isk-text-2-2"/>
          <p:cNvSpPr/>
          <p:nvPr/>
        </p:nvSpPr>
        <p:spPr>
          <a:xfrm>
            <a:off x="6039000" y="4305240"/>
            <a:ext cx="2590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Response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isk-cell-2-3"/>
          <p:cNvSpPr/>
          <p:nvPr/>
        </p:nvSpPr>
        <p:spPr>
          <a:xfrm>
            <a:off x="8763120" y="4057560"/>
            <a:ext cx="2095200" cy="685440"/>
          </a:xfrm>
          <a:prstGeom prst="rect">
            <a:avLst/>
          </a:prstGeom>
          <a:solidFill>
            <a:srgbClr val="F6ECD2"/>
          </a:solidFill>
          <a:ln w="0">
            <a:solidFill>
              <a:srgbClr val="F6ECD2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isk-border-2-3"/>
          <p:cNvSpPr/>
          <p:nvPr/>
        </p:nvSpPr>
        <p:spPr>
          <a:xfrm>
            <a:off x="8763120" y="4057560"/>
            <a:ext cx="2095200" cy="685440"/>
          </a:xfrm>
          <a:prstGeom prst="rect">
            <a:avLst/>
          </a:prstGeom>
          <a:noFill/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isk-text-2-3"/>
          <p:cNvSpPr/>
          <p:nvPr/>
        </p:nvSpPr>
        <p:spPr>
          <a:xfrm>
            <a:off x="8896320" y="4305240"/>
            <a:ext cx="1828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Owner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isk-note"/>
          <p:cNvSpPr/>
          <p:nvPr/>
        </p:nvSpPr>
        <p:spPr>
          <a:xfrm>
            <a:off x="1714680" y="5334120"/>
            <a:ext cx="876276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Risk pages should feel controlled, not alarmist. Use clear triggers and response ownership.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footer-line-10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footer-10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kicker-11"/>
          <p:cNvSpPr/>
          <p:nvPr/>
        </p:nvSpPr>
        <p:spPr>
          <a:xfrm>
            <a:off x="666720" y="285840"/>
            <a:ext cx="40003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8E6B2F"/>
                </a:solidFill>
                <a:effectLst/>
                <a:uFillTx/>
                <a:latin typeface="Calibri"/>
                <a:ea typeface="Calibri"/>
              </a:rPr>
              <a:t>BIG IDEA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age-11"/>
          <p:cNvSpPr/>
          <p:nvPr/>
        </p:nvSpPr>
        <p:spPr>
          <a:xfrm>
            <a:off x="11087280" y="285840"/>
            <a:ext cx="437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quote"/>
          <p:cNvSpPr/>
          <p:nvPr/>
        </p:nvSpPr>
        <p:spPr>
          <a:xfrm>
            <a:off x="1428840" y="2190600"/>
            <a:ext cx="9334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30" b="1" u="none" strike="noStrike">
                <a:solidFill>
                  <a:srgbClr val="16201A"/>
                </a:solidFill>
                <a:effectLst/>
                <a:uFillTx/>
                <a:latin typeface="Calibri"/>
                <a:ea typeface="Calibri"/>
              </a:rPr>
              <a:t>A proposal is remembered by its strongest judgment, not by its longest table.</a:t>
            </a:r>
            <a:endParaRPr lang="en-US" sz="32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quote-line"/>
          <p:cNvSpPr/>
          <p:nvPr/>
        </p:nvSpPr>
        <p:spPr>
          <a:xfrm>
            <a:off x="4143240" y="4095720"/>
            <a:ext cx="3905280" cy="360"/>
          </a:xfrm>
          <a:prstGeom prst="line">
            <a:avLst/>
          </a:prstGeom>
          <a:ln w="38100">
            <a:solidFill>
              <a:srgbClr val="CDA3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quote-support"/>
          <p:cNvSpPr/>
          <p:nvPr/>
        </p:nvSpPr>
        <p:spPr>
          <a:xfrm>
            <a:off x="2476440" y="4524480"/>
            <a:ext cx="7238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Use this page type to give the audience breathing room after dense evidence.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footer-line-11"/>
          <p:cNvSpPr/>
          <p:nvPr/>
        </p:nvSpPr>
        <p:spPr>
          <a:xfrm>
            <a:off x="666720" y="6362640"/>
            <a:ext cx="10858320" cy="360"/>
          </a:xfrm>
          <a:prstGeom prst="line">
            <a:avLst/>
          </a:prstGeom>
          <a:ln w="9525">
            <a:solidFill>
              <a:srgbClr val="E2D8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footer-11"/>
          <p:cNvSpPr/>
          <p:nvPr/>
        </p:nvSpPr>
        <p:spPr>
          <a:xfrm>
            <a:off x="666720" y="6419880"/>
            <a:ext cx="6857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70" b="0" u="none" strike="noStrike">
                <a:solidFill>
                  <a:srgbClr val="6D746A"/>
                </a:solidFill>
                <a:effectLst/>
                <a:uFillTx/>
                <a:latin typeface="Calibri"/>
                <a:ea typeface="Calibri"/>
              </a:rPr>
              <a:t>Proposal template | Replace with client/project footer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93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closing-kicker"/>
          <p:cNvSpPr/>
          <p:nvPr/>
        </p:nvSpPr>
        <p:spPr>
          <a:xfrm>
            <a:off x="762120" y="571680"/>
            <a:ext cx="2857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FINAL RECOMMENDATION</a:t>
            </a:r>
            <a:endParaRPr lang="en-US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closing-title"/>
          <p:cNvSpPr/>
          <p:nvPr/>
        </p:nvSpPr>
        <p:spPr>
          <a:xfrm>
            <a:off x="762120" y="1257480"/>
            <a:ext cx="8857800" cy="93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Choose the plan that proves strategy, delivery, and control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close-num-0"/>
          <p:cNvSpPr/>
          <p:nvPr/>
        </p:nvSpPr>
        <p:spPr>
          <a:xfrm>
            <a:off x="1143000" y="2857680"/>
            <a:ext cx="609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close-label-0"/>
          <p:cNvSpPr/>
          <p:nvPr/>
        </p:nvSpPr>
        <p:spPr>
          <a:xfrm>
            <a:off x="2000160" y="2895480"/>
            <a:ext cx="3428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Clear thesis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close-body-0"/>
          <p:cNvSpPr/>
          <p:nvPr/>
        </p:nvSpPr>
        <p:spPr>
          <a:xfrm>
            <a:off x="5429160" y="2933640"/>
            <a:ext cx="4476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Replace with one concrete reason to choose this proposal.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close-num-1"/>
          <p:cNvSpPr/>
          <p:nvPr/>
        </p:nvSpPr>
        <p:spPr>
          <a:xfrm>
            <a:off x="1143000" y="3676680"/>
            <a:ext cx="609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close-label-1"/>
          <p:cNvSpPr/>
          <p:nvPr/>
        </p:nvSpPr>
        <p:spPr>
          <a:xfrm>
            <a:off x="2000160" y="3714840"/>
            <a:ext cx="3428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Executable system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close-body-1"/>
          <p:cNvSpPr/>
          <p:nvPr/>
        </p:nvSpPr>
        <p:spPr>
          <a:xfrm>
            <a:off x="5429160" y="3753000"/>
            <a:ext cx="4476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Replace with one concrete reason to choose this proposal.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close-num-2"/>
          <p:cNvSpPr/>
          <p:nvPr/>
        </p:nvSpPr>
        <p:spPr>
          <a:xfrm>
            <a:off x="1143000" y="4495680"/>
            <a:ext cx="60912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CDA34B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close-label-2"/>
          <p:cNvSpPr/>
          <p:nvPr/>
        </p:nvSpPr>
        <p:spPr>
          <a:xfrm>
            <a:off x="2000160" y="4533840"/>
            <a:ext cx="3428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Visible proof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close-body-2"/>
          <p:cNvSpPr/>
          <p:nvPr/>
        </p:nvSpPr>
        <p:spPr>
          <a:xfrm>
            <a:off x="5429160" y="4572000"/>
            <a:ext cx="4476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Replace with one concrete reason to choose this proposal.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close-next"/>
          <p:cNvSpPr/>
          <p:nvPr/>
        </p:nvSpPr>
        <p:spPr>
          <a:xfrm>
            <a:off x="762120" y="5772240"/>
            <a:ext cx="9905760" cy="514080"/>
          </a:xfrm>
          <a:prstGeom prst="roundRect">
            <a:avLst>
              <a:gd name="adj" fmla="val 14815"/>
            </a:avLst>
          </a:prstGeom>
          <a:solidFill>
            <a:srgbClr val="0A3327"/>
          </a:solidFill>
          <a:ln w="9525">
            <a:solidFill>
              <a:srgbClr val="0A33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close-next-text"/>
          <p:cNvSpPr/>
          <p:nvPr/>
        </p:nvSpPr>
        <p:spPr>
          <a:xfrm>
            <a:off x="1066680" y="5943600"/>
            <a:ext cx="92959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DCEFE7"/>
                </a:solidFill>
                <a:effectLst/>
                <a:uFillTx/>
                <a:latin typeface="Calibri"/>
                <a:ea typeface="Calibri"/>
              </a:rPr>
              <a:t>Next step: confirm scope, missing inputs, decision owners, and first working session.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2026-06-26T04:34:49Z</dcterms:created>
  <dc:creator>Walnut Exporter</dc:creator>
  <dc:description/>
  <dc:language>zh-CN</dc:language>
  <cp:lastModifiedBy>Walnut Exporter</cp:lastModifiedBy>
  <dcterms:modified xsi:type="dcterms:W3CDTF">2026-06-26T04:34:49Z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