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b76faaec4b4fe7" /><Relationship Type="http://schemas.openxmlformats.org/officeDocument/2006/relationships/extended-properties" Target="/docProps/app.xml" Id="Ra33dc2a40b4a47ba" /><Relationship Type="http://schemas.openxmlformats.org/officeDocument/2006/relationships/officeDocument" Target="/ppt/presentation.xml" Id="R1de50ac4a77842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800bde692a44ae"/>
  </p:sldMasterIdLst>
  <p:notesMasterIdLst>
    <p:notesMasterId xmlns:r="http://schemas.openxmlformats.org/officeDocument/2006/relationships" r:id="R5d9ece9c8d484e35"/>
  </p:notesMasterIdLst>
  <p:sldIdLst>
    <p:sldId xmlns:r="http://schemas.openxmlformats.org/officeDocument/2006/relationships" id="256" r:id="Rdbef227e632b4e29"/>
    <p:sldId xmlns:r="http://schemas.openxmlformats.org/officeDocument/2006/relationships" id="257" r:id="R2284362fe6144a6b"/>
    <p:sldId xmlns:r="http://schemas.openxmlformats.org/officeDocument/2006/relationships" id="258" r:id="Rb5871c54f4f9443e"/>
    <p:sldId xmlns:r="http://schemas.openxmlformats.org/officeDocument/2006/relationships" id="259" r:id="Rf8b9ff991bb048f4"/>
    <p:sldId xmlns:r="http://schemas.openxmlformats.org/officeDocument/2006/relationships" id="260" r:id="R51550449a0504735"/>
    <p:sldId xmlns:r="http://schemas.openxmlformats.org/officeDocument/2006/relationships" id="261" r:id="R6bbe043702f140cd"/>
    <p:sldId xmlns:r="http://schemas.openxmlformats.org/officeDocument/2006/relationships" id="262" r:id="Rd8dac63180a84aa3"/>
    <p:sldId xmlns:r="http://schemas.openxmlformats.org/officeDocument/2006/relationships" id="263" r:id="R02518acd914849b9"/>
    <p:sldId xmlns:r="http://schemas.openxmlformats.org/officeDocument/2006/relationships" id="264" r:id="R3f5181c35dfb41c4"/>
    <p:sldId xmlns:r="http://schemas.openxmlformats.org/officeDocument/2006/relationships" id="265" r:id="R290f131aaefb4392"/>
    <p:sldId xmlns:r="http://schemas.openxmlformats.org/officeDocument/2006/relationships" id="266" r:id="Ra584510245a84509"/>
    <p:sldId xmlns:r="http://schemas.openxmlformats.org/officeDocument/2006/relationships" id="267" r:id="R00533c1d96744db0"/>
    <p:sldId xmlns:r="http://schemas.openxmlformats.org/officeDocument/2006/relationships" id="268" r:id="R6a08a05bbd9e4323"/>
    <p:sldId xmlns:r="http://schemas.openxmlformats.org/officeDocument/2006/relationships" id="269" r:id="R209d79e7d41c42e7"/>
    <p:sldId xmlns:r="http://schemas.openxmlformats.org/officeDocument/2006/relationships" id="270" r:id="Rd4e07b318b064e4a"/>
    <p:sldId xmlns:r="http://schemas.openxmlformats.org/officeDocument/2006/relationships" id="271" r:id="Ref6352c1887d421e"/>
    <p:sldId xmlns:r="http://schemas.openxmlformats.org/officeDocument/2006/relationships" id="272" r:id="R115c66423f16456b"/>
    <p:sldId xmlns:r="http://schemas.openxmlformats.org/officeDocument/2006/relationships" id="273" r:id="R489d77994a1a461d"/>
    <p:sldId xmlns:r="http://schemas.openxmlformats.org/officeDocument/2006/relationships" id="274" r:id="Rb4e7bf0c8aaa4799"/>
    <p:sldId xmlns:r="http://schemas.openxmlformats.org/officeDocument/2006/relationships" id="275" r:id="R598a07ce2bcc4bd1"/>
    <p:sldId xmlns:r="http://schemas.openxmlformats.org/officeDocument/2006/relationships" id="276" r:id="Rb97242e202dc4d4b"/>
    <p:sldId xmlns:r="http://schemas.openxmlformats.org/officeDocument/2006/relationships" id="277" r:id="R77813c8e08564248"/>
    <p:sldId xmlns:r="http://schemas.openxmlformats.org/officeDocument/2006/relationships" id="278" r:id="R094da95926db4c91"/>
    <p:sldId xmlns:r="http://schemas.openxmlformats.org/officeDocument/2006/relationships" id="279" r:id="R39e041b297a04ad7"/>
    <p:sldId xmlns:r="http://schemas.openxmlformats.org/officeDocument/2006/relationships" id="280" r:id="R86970759b14e4e4d"/>
    <p:sldId xmlns:r="http://schemas.openxmlformats.org/officeDocument/2006/relationships" id="281" r:id="Rc8cc9275da114e22"/>
    <p:sldId xmlns:r="http://schemas.openxmlformats.org/officeDocument/2006/relationships" id="282" r:id="Rb58ce1ee62af455f"/>
    <p:sldId xmlns:r="http://schemas.openxmlformats.org/officeDocument/2006/relationships" id="283" r:id="R293b7244fedf4a13"/>
    <p:sldId xmlns:r="http://schemas.openxmlformats.org/officeDocument/2006/relationships" id="284" r:id="R7b51dbfb37eb4684"/>
    <p:sldId xmlns:r="http://schemas.openxmlformats.org/officeDocument/2006/relationships" id="285" r:id="R525877446e3f405d"/>
    <p:sldId xmlns:r="http://schemas.openxmlformats.org/officeDocument/2006/relationships" id="286" r:id="Rbe23748b6d0e427f"/>
    <p:sldId xmlns:r="http://schemas.openxmlformats.org/officeDocument/2006/relationships" id="287" r:id="Recc48f926c094c5c"/>
    <p:sldId xmlns:r="http://schemas.openxmlformats.org/officeDocument/2006/relationships" id="288" r:id="Rfda622d843ea4a58"/>
    <p:sldId xmlns:r="http://schemas.openxmlformats.org/officeDocument/2006/relationships" id="289" r:id="R3def6e4aeacb4bf4"/>
    <p:sldId xmlns:r="http://schemas.openxmlformats.org/officeDocument/2006/relationships" id="290" r:id="R6027e7a6e536409a"/>
    <p:sldId xmlns:r="http://schemas.openxmlformats.org/officeDocument/2006/relationships" id="291" r:id="R8c3bed4a99044ee1"/>
    <p:sldId xmlns:r="http://schemas.openxmlformats.org/officeDocument/2006/relationships" id="292" r:id="R60a0d37891224fc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b45d53cee74ba4" /><Relationship Type="http://schemas.openxmlformats.org/officeDocument/2006/relationships/slideMaster" Target="/ppt/slideMasters/slideMaster1.xml" Id="Rc2800bde692a44ae" /><Relationship Type="http://schemas.openxmlformats.org/officeDocument/2006/relationships/notesMaster" Target="/ppt/notesMasters/notesMaster1.xml" Id="R5d9ece9c8d484e35" /><Relationship Type="http://schemas.openxmlformats.org/officeDocument/2006/relationships/presProps" Target="/ppt/presProps.xml" Id="Re2b821279d724490" /><Relationship Type="http://schemas.openxmlformats.org/officeDocument/2006/relationships/tableStyles" Target="/ppt/tableStyles.xml" Id="Rc085b4e90d1b47ec" /><Relationship Type="http://schemas.openxmlformats.org/officeDocument/2006/relationships/slide" Target="/ppt/slides/slide1.xml" Id="Rdbef227e632b4e29" /><Relationship Type="http://schemas.openxmlformats.org/officeDocument/2006/relationships/slide" Target="/ppt/slides/slide2.xml" Id="R2284362fe6144a6b" /><Relationship Type="http://schemas.openxmlformats.org/officeDocument/2006/relationships/slide" Target="/ppt/slides/slide3.xml" Id="Rb5871c54f4f9443e" /><Relationship Type="http://schemas.openxmlformats.org/officeDocument/2006/relationships/slide" Target="/ppt/slides/slide4.xml" Id="Rf8b9ff991bb048f4" /><Relationship Type="http://schemas.openxmlformats.org/officeDocument/2006/relationships/slide" Target="/ppt/slides/slide5.xml" Id="R51550449a0504735" /><Relationship Type="http://schemas.openxmlformats.org/officeDocument/2006/relationships/slide" Target="/ppt/slides/slide6.xml" Id="R6bbe043702f140cd" /><Relationship Type="http://schemas.openxmlformats.org/officeDocument/2006/relationships/slide" Target="/ppt/slides/slide7.xml" Id="Rd8dac63180a84aa3" /><Relationship Type="http://schemas.openxmlformats.org/officeDocument/2006/relationships/slide" Target="/ppt/slides/slide8.xml" Id="R02518acd914849b9" /><Relationship Type="http://schemas.openxmlformats.org/officeDocument/2006/relationships/slide" Target="/ppt/slides/slide9.xml" Id="R3f5181c35dfb41c4" /><Relationship Type="http://schemas.openxmlformats.org/officeDocument/2006/relationships/slide" Target="/ppt/slides/slide10.xml" Id="R290f131aaefb4392" /><Relationship Type="http://schemas.openxmlformats.org/officeDocument/2006/relationships/slide" Target="/ppt/slides/slide11.xml" Id="Ra584510245a84509" /><Relationship Type="http://schemas.openxmlformats.org/officeDocument/2006/relationships/slide" Target="/ppt/slides/slide12.xml" Id="R00533c1d96744db0" /><Relationship Type="http://schemas.openxmlformats.org/officeDocument/2006/relationships/slide" Target="/ppt/slides/slide13.xml" Id="R6a08a05bbd9e4323" /><Relationship Type="http://schemas.openxmlformats.org/officeDocument/2006/relationships/slide" Target="/ppt/slides/slide14.xml" Id="R209d79e7d41c42e7" /><Relationship Type="http://schemas.openxmlformats.org/officeDocument/2006/relationships/slide" Target="/ppt/slides/slide15.xml" Id="Rd4e07b318b064e4a" /><Relationship Type="http://schemas.openxmlformats.org/officeDocument/2006/relationships/slide" Target="/ppt/slides/slide16.xml" Id="Ref6352c1887d421e" /><Relationship Type="http://schemas.openxmlformats.org/officeDocument/2006/relationships/slide" Target="/ppt/slides/slide17.xml" Id="R115c66423f16456b" /><Relationship Type="http://schemas.openxmlformats.org/officeDocument/2006/relationships/slide" Target="/ppt/slides/slide18.xml" Id="R489d77994a1a461d" /><Relationship Type="http://schemas.openxmlformats.org/officeDocument/2006/relationships/slide" Target="/ppt/slides/slide19.xml" Id="Rb4e7bf0c8aaa4799" /><Relationship Type="http://schemas.openxmlformats.org/officeDocument/2006/relationships/slide" Target="/ppt/slides/slide20.xml" Id="R598a07ce2bcc4bd1" /><Relationship Type="http://schemas.openxmlformats.org/officeDocument/2006/relationships/slide" Target="/ppt/slides/slide21.xml" Id="Rb97242e202dc4d4b" /><Relationship Type="http://schemas.openxmlformats.org/officeDocument/2006/relationships/slide" Target="/ppt/slides/slide22.xml" Id="R77813c8e08564248" /><Relationship Type="http://schemas.openxmlformats.org/officeDocument/2006/relationships/slide" Target="/ppt/slides/slide23.xml" Id="R094da95926db4c91" /><Relationship Type="http://schemas.openxmlformats.org/officeDocument/2006/relationships/slide" Target="/ppt/slides/slide24.xml" Id="R39e041b297a04ad7" /><Relationship Type="http://schemas.openxmlformats.org/officeDocument/2006/relationships/slide" Target="/ppt/slides/slide25.xml" Id="R86970759b14e4e4d" /><Relationship Type="http://schemas.openxmlformats.org/officeDocument/2006/relationships/slide" Target="/ppt/slides/slide26.xml" Id="Rc8cc9275da114e22" /><Relationship Type="http://schemas.openxmlformats.org/officeDocument/2006/relationships/slide" Target="/ppt/slides/slide27.xml" Id="Rb58ce1ee62af455f" /><Relationship Type="http://schemas.openxmlformats.org/officeDocument/2006/relationships/slide" Target="/ppt/slides/slide28.xml" Id="R293b7244fedf4a13" /><Relationship Type="http://schemas.openxmlformats.org/officeDocument/2006/relationships/slide" Target="/ppt/slides/slide29.xml" Id="R7b51dbfb37eb4684" /><Relationship Type="http://schemas.openxmlformats.org/officeDocument/2006/relationships/slide" Target="/ppt/slides/slide30.xml" Id="R525877446e3f405d" /><Relationship Type="http://schemas.openxmlformats.org/officeDocument/2006/relationships/slide" Target="/ppt/slides/slide31.xml" Id="Rbe23748b6d0e427f" /><Relationship Type="http://schemas.openxmlformats.org/officeDocument/2006/relationships/slide" Target="/ppt/slides/slide32.xml" Id="Recc48f926c094c5c" /><Relationship Type="http://schemas.openxmlformats.org/officeDocument/2006/relationships/slide" Target="/ppt/slides/slide33.xml" Id="Rfda622d843ea4a58" /><Relationship Type="http://schemas.openxmlformats.org/officeDocument/2006/relationships/slide" Target="/ppt/slides/slide34.xml" Id="R3def6e4aeacb4bf4" /><Relationship Type="http://schemas.openxmlformats.org/officeDocument/2006/relationships/slide" Target="/ppt/slides/slide35.xml" Id="R6027e7a6e536409a" /><Relationship Type="http://schemas.openxmlformats.org/officeDocument/2006/relationships/slide" Target="/ppt/slides/slide36.xml" Id="R8c3bed4a99044ee1" /><Relationship Type="http://schemas.openxmlformats.org/officeDocument/2006/relationships/slide" Target="/ppt/slides/slide37.xml" Id="R60a0d37891224f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0bc064504b49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75918ae8fe4f52" /><Relationship Type="http://schemas.openxmlformats.org/officeDocument/2006/relationships/notesMaster" Target="/ppt/notesMasters/notesMaster1.xml" Id="Ra6a24dbc5d5541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4221f405b34cf9" /><Relationship Type="http://schemas.openxmlformats.org/officeDocument/2006/relationships/notesMaster" Target="/ppt/notesMasters/notesMaster1.xml" Id="R1c80e2dce0b146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9cec1cf2f84fbd" /><Relationship Type="http://schemas.openxmlformats.org/officeDocument/2006/relationships/notesMaster" Target="/ppt/notesMasters/notesMaster1.xml" Id="Rbd35da4d46a948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4eb2fcad664a91" /><Relationship Type="http://schemas.openxmlformats.org/officeDocument/2006/relationships/notesMaster" Target="/ppt/notesMasters/notesMaster1.xml" Id="R8872810fb3c34a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146f9826bc4de6" /><Relationship Type="http://schemas.openxmlformats.org/officeDocument/2006/relationships/notesMaster" Target="/ppt/notesMasters/notesMaster1.xml" Id="R3af0f431fe434b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a9f115160d4045" /><Relationship Type="http://schemas.openxmlformats.org/officeDocument/2006/relationships/notesMaster" Target="/ppt/notesMasters/notesMaster1.xml" Id="Ra1802e8ce13345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b5acb7963b45a3" /><Relationship Type="http://schemas.openxmlformats.org/officeDocument/2006/relationships/notesMaster" Target="/ppt/notesMasters/notesMaster1.xml" Id="R89b226df39fb46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142ed08f8e4cba" /><Relationship Type="http://schemas.openxmlformats.org/officeDocument/2006/relationships/notesMaster" Target="/ppt/notesMasters/notesMaster1.xml" Id="Raec18b0c258243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6c286813f1453d" /><Relationship Type="http://schemas.openxmlformats.org/officeDocument/2006/relationships/notesMaster" Target="/ppt/notesMasters/notesMaster1.xml" Id="R5fcc4af817f342c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b2723051f51467d" /><Relationship Type="http://schemas.openxmlformats.org/officeDocument/2006/relationships/notesMaster" Target="/ppt/notesMasters/notesMaster1.xml" Id="Rd485775e5d08429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28a53024fd04b1c" /><Relationship Type="http://schemas.openxmlformats.org/officeDocument/2006/relationships/notesMaster" Target="/ppt/notesMasters/notesMaster1.xml" Id="Ra8370516fc81425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d62e99c4b1d4a24" /><Relationship Type="http://schemas.openxmlformats.org/officeDocument/2006/relationships/notesMaster" Target="/ppt/notesMasters/notesMaster1.xml" Id="R13b2917255324bb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18939909957402a" /><Relationship Type="http://schemas.openxmlformats.org/officeDocument/2006/relationships/notesMaster" Target="/ppt/notesMasters/notesMaster1.xml" Id="R26a9f7d37ed6412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63c6f4188224198" /><Relationship Type="http://schemas.openxmlformats.org/officeDocument/2006/relationships/notesMaster" Target="/ppt/notesMasters/notesMaster1.xml" Id="R4cb1ca34fa004f3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23f29cd7edc44c1" /><Relationship Type="http://schemas.openxmlformats.org/officeDocument/2006/relationships/notesMaster" Target="/ppt/notesMasters/notesMaster1.xml" Id="Rbf6a0be7f92e49b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c40614a29164937" /><Relationship Type="http://schemas.openxmlformats.org/officeDocument/2006/relationships/notesMaster" Target="/ppt/notesMasters/notesMaster1.xml" Id="R63ed3e486ff84e1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6fde0eaf1b4465b" /><Relationship Type="http://schemas.openxmlformats.org/officeDocument/2006/relationships/notesMaster" Target="/ppt/notesMasters/notesMaster1.xml" Id="R43aed0f0a2f4478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aea2ec806224197" /><Relationship Type="http://schemas.openxmlformats.org/officeDocument/2006/relationships/notesMaster" Target="/ppt/notesMasters/notesMaster1.xml" Id="Rd481f7122010455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9f38c5d617b4b7e" /><Relationship Type="http://schemas.openxmlformats.org/officeDocument/2006/relationships/notesMaster" Target="/ppt/notesMasters/notesMaster1.xml" Id="Ree8bfdfb0661462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4f83b72511f4860" /><Relationship Type="http://schemas.openxmlformats.org/officeDocument/2006/relationships/notesMaster" Target="/ppt/notesMasters/notesMaster1.xml" Id="R23a86fa0043a42e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f8a732a6fc040c1" /><Relationship Type="http://schemas.openxmlformats.org/officeDocument/2006/relationships/notesMaster" Target="/ppt/notesMasters/notesMaster1.xml" Id="R8082bd50465143d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620c6ae0a2b4396" /><Relationship Type="http://schemas.openxmlformats.org/officeDocument/2006/relationships/notesMaster" Target="/ppt/notesMasters/notesMaster1.xml" Id="R477c2678e094423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dc62a6b53fa4b79" /><Relationship Type="http://schemas.openxmlformats.org/officeDocument/2006/relationships/notesMaster" Target="/ppt/notesMasters/notesMaster1.xml" Id="R59d9f30785ba46c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57bb92bf15c423e" /><Relationship Type="http://schemas.openxmlformats.org/officeDocument/2006/relationships/notesMaster" Target="/ppt/notesMasters/notesMaster1.xml" Id="R2c10a4ebda5c43c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0ee37657bc74fa8" /><Relationship Type="http://schemas.openxmlformats.org/officeDocument/2006/relationships/notesMaster" Target="/ppt/notesMasters/notesMaster1.xml" Id="Rb36d59fd5f26427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d74568776914a8a" /><Relationship Type="http://schemas.openxmlformats.org/officeDocument/2006/relationships/notesMaster" Target="/ppt/notesMasters/notesMaster1.xml" Id="Rb83df3f1115f415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3942dc064094441" /><Relationship Type="http://schemas.openxmlformats.org/officeDocument/2006/relationships/notesMaster" Target="/ppt/notesMasters/notesMaster1.xml" Id="Rb940a7476465437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b876d2cc66f477c" /><Relationship Type="http://schemas.openxmlformats.org/officeDocument/2006/relationships/notesMaster" Target="/ppt/notesMasters/notesMaster1.xml" Id="R41c3a62f8305455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71b6d65b2b44b23" /><Relationship Type="http://schemas.openxmlformats.org/officeDocument/2006/relationships/notesMaster" Target="/ppt/notesMasters/notesMaster1.xml" Id="R7e57c9d299fe474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daa37b977d343e6" /><Relationship Type="http://schemas.openxmlformats.org/officeDocument/2006/relationships/notesMaster" Target="/ppt/notesMasters/notesMaster1.xml" Id="Rcc2da50ea0d84c2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077a8f09be84cad" /><Relationship Type="http://schemas.openxmlformats.org/officeDocument/2006/relationships/notesMaster" Target="/ppt/notesMasters/notesMaster1.xml" Id="R8099faa3eeed43a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0508587e7e14809" /><Relationship Type="http://schemas.openxmlformats.org/officeDocument/2006/relationships/notesMaster" Target="/ppt/notesMasters/notesMaster1.xml" Id="R930c1e1ceb5c4cf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604533eb88448ef" /><Relationship Type="http://schemas.openxmlformats.org/officeDocument/2006/relationships/notesMaster" Target="/ppt/notesMasters/notesMaster1.xml" Id="Ra1c541a2a1a84b4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64d43457a3e4c28" /><Relationship Type="http://schemas.openxmlformats.org/officeDocument/2006/relationships/notesMaster" Target="/ppt/notesMasters/notesMaster1.xml" Id="Ree076450b26448b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67bfb3c96204f0a" /><Relationship Type="http://schemas.openxmlformats.org/officeDocument/2006/relationships/notesMaster" Target="/ppt/notesMasters/notesMaster1.xml" Id="R945ce938b311471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b972ca0ab6e4992" /><Relationship Type="http://schemas.openxmlformats.org/officeDocument/2006/relationships/notesMaster" Target="/ppt/notesMasters/notesMaster1.xml" Id="R2b1a144b3224432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20f088ff3f14f91" /><Relationship Type="http://schemas.openxmlformats.org/officeDocument/2006/relationships/notesMaster" Target="/ppt/notesMasters/notesMaster1.xml" Id="R2da47e7997714a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47ef728c3947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fc94549c1047a2" /><Relationship Type="http://schemas.openxmlformats.org/officeDocument/2006/relationships/slideLayout" Target="/ppt/slideLayouts/slideLayout1.xml" Id="R7b4595b888824d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4595b888824d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8e23a5a3c4b38" /><Relationship Type="http://schemas.openxmlformats.org/officeDocument/2006/relationships/notesSlide" Target="/ppt/notesSlides/notesSlide1.xml" Id="Rdae3d5d804624d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81b5dc3f7498d" /><Relationship Type="http://schemas.openxmlformats.org/officeDocument/2006/relationships/notesSlide" Target="/ppt/notesSlides/notesSlide2.xml" Id="R780e883037de4d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3152f84d3489a" /><Relationship Type="http://schemas.openxmlformats.org/officeDocument/2006/relationships/notesSlide" Target="/ppt/notesSlides/notesSlide3.xml" Id="R8c159994db004f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c6f8bf75046c9" /><Relationship Type="http://schemas.openxmlformats.org/officeDocument/2006/relationships/notesSlide" Target="/ppt/notesSlides/notesSlide4.xml" Id="Ra425412d99e54c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8b10c740554662" /><Relationship Type="http://schemas.openxmlformats.org/officeDocument/2006/relationships/notesSlide" Target="/ppt/notesSlides/notesSlide5.xml" Id="Rcc50dc9ac7274f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630f179d48466e" /><Relationship Type="http://schemas.openxmlformats.org/officeDocument/2006/relationships/notesSlide" Target="/ppt/notesSlides/notesSlide6.xml" Id="R6c0ab5defda84c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10cfcb1a542fa" /><Relationship Type="http://schemas.openxmlformats.org/officeDocument/2006/relationships/notesSlide" Target="/ppt/notesSlides/notesSlide7.xml" Id="R2f931a43cbed4f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736d3ea2941b3" /><Relationship Type="http://schemas.openxmlformats.org/officeDocument/2006/relationships/notesSlide" Target="/ppt/notesSlides/notesSlide8.xml" Id="R492a1f97d9744f6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e6e401ce924c4f" /><Relationship Type="http://schemas.openxmlformats.org/officeDocument/2006/relationships/notesSlide" Target="/ppt/notesSlides/notesSlide9.xml" Id="Rdebb04a0b3d3456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06cb3f2c94519" /><Relationship Type="http://schemas.openxmlformats.org/officeDocument/2006/relationships/notesSlide" Target="/ppt/notesSlides/notesSlide10.xml" Id="R4993ce188af24fc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9718abfd604b6e" /><Relationship Type="http://schemas.openxmlformats.org/officeDocument/2006/relationships/notesSlide" Target="/ppt/notesSlides/notesSlide11.xml" Id="Rbbf0d361aa0843c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ff9afab7814d85" /><Relationship Type="http://schemas.openxmlformats.org/officeDocument/2006/relationships/notesSlide" Target="/ppt/notesSlides/notesSlide12.xml" Id="R33cb5da5ea79409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00982365df423c" /><Relationship Type="http://schemas.openxmlformats.org/officeDocument/2006/relationships/notesSlide" Target="/ppt/notesSlides/notesSlide13.xml" Id="R88eeb47a899848a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2e200470ba41fb" /><Relationship Type="http://schemas.openxmlformats.org/officeDocument/2006/relationships/notesSlide" Target="/ppt/notesSlides/notesSlide14.xml" Id="Reb073c72c7f64d4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6fda16dc04e77" /><Relationship Type="http://schemas.openxmlformats.org/officeDocument/2006/relationships/notesSlide" Target="/ppt/notesSlides/notesSlide15.xml" Id="Rad2316440b5d4ea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58b84dc5e451a" /><Relationship Type="http://schemas.openxmlformats.org/officeDocument/2006/relationships/notesSlide" Target="/ppt/notesSlides/notesSlide16.xml" Id="R9c6c7f92e35a4d1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ec3aebbe74cd6" /><Relationship Type="http://schemas.openxmlformats.org/officeDocument/2006/relationships/notesSlide" Target="/ppt/notesSlides/notesSlide17.xml" Id="R284b189b5cf2450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14c0a53444530" /><Relationship Type="http://schemas.openxmlformats.org/officeDocument/2006/relationships/notesSlide" Target="/ppt/notesSlides/notesSlide18.xml" Id="Rc80c2ae82b94440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37689079634609" /><Relationship Type="http://schemas.openxmlformats.org/officeDocument/2006/relationships/notesSlide" Target="/ppt/notesSlides/notesSlide19.xml" Id="R8cc5886c1e3744e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92387d2b864416" /><Relationship Type="http://schemas.openxmlformats.org/officeDocument/2006/relationships/notesSlide" Target="/ppt/notesSlides/notesSlide20.xml" Id="R664470eb0d12428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fce8b8c42b497f" /><Relationship Type="http://schemas.openxmlformats.org/officeDocument/2006/relationships/notesSlide" Target="/ppt/notesSlides/notesSlide21.xml" Id="Rad2c1b15b63844a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03a4899e24d5d" /><Relationship Type="http://schemas.openxmlformats.org/officeDocument/2006/relationships/notesSlide" Target="/ppt/notesSlides/notesSlide22.xml" Id="R4e82a9e4b1984fc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c8131131514c63" /><Relationship Type="http://schemas.openxmlformats.org/officeDocument/2006/relationships/notesSlide" Target="/ppt/notesSlides/notesSlide23.xml" Id="R97b0e22dc3cb47a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87441df9594b74" /><Relationship Type="http://schemas.openxmlformats.org/officeDocument/2006/relationships/notesSlide" Target="/ppt/notesSlides/notesSlide24.xml" Id="R7c5c8fa1080340b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1e7bcfbfa245a9" /><Relationship Type="http://schemas.openxmlformats.org/officeDocument/2006/relationships/notesSlide" Target="/ppt/notesSlides/notesSlide25.xml" Id="Rd134e7cb1d7f4f7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601c8f123c4b1a" /><Relationship Type="http://schemas.openxmlformats.org/officeDocument/2006/relationships/notesSlide" Target="/ppt/notesSlides/notesSlide26.xml" Id="Rc8e32d87577f401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a2752f69f342a5" /><Relationship Type="http://schemas.openxmlformats.org/officeDocument/2006/relationships/notesSlide" Target="/ppt/notesSlides/notesSlide27.xml" Id="Reb83a7ced656409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24c58484fc4fdc" /><Relationship Type="http://schemas.openxmlformats.org/officeDocument/2006/relationships/notesSlide" Target="/ppt/notesSlides/notesSlide28.xml" Id="Rf84fe070a68a4b8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52a4a6bb08494a" /><Relationship Type="http://schemas.openxmlformats.org/officeDocument/2006/relationships/notesSlide" Target="/ppt/notesSlides/notesSlide29.xml" Id="R1fc8c7de79f64a8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92ff63c0b04747" /><Relationship Type="http://schemas.openxmlformats.org/officeDocument/2006/relationships/notesSlide" Target="/ppt/notesSlides/notesSlide30.xml" Id="Ra2309a5cc24648d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f4d27ea084bbc" /><Relationship Type="http://schemas.openxmlformats.org/officeDocument/2006/relationships/notesSlide" Target="/ppt/notesSlides/notesSlide31.xml" Id="Rb92fe72b683145e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8c58b3b794542" /><Relationship Type="http://schemas.openxmlformats.org/officeDocument/2006/relationships/notesSlide" Target="/ppt/notesSlides/notesSlide32.xml" Id="R4e50126319a048b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7319d64824826" /><Relationship Type="http://schemas.openxmlformats.org/officeDocument/2006/relationships/notesSlide" Target="/ppt/notesSlides/notesSlide33.xml" Id="Rd4f3b5478f454ac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4837cc84c4a5b" /><Relationship Type="http://schemas.openxmlformats.org/officeDocument/2006/relationships/notesSlide" Target="/ppt/notesSlides/notesSlide34.xml" Id="R29011884ec1c412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cabfaa42b949dc" /><Relationship Type="http://schemas.openxmlformats.org/officeDocument/2006/relationships/notesSlide" Target="/ppt/notesSlides/notesSlide35.xml" Id="Rcc6c780310e349a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d0e68925734d01" /><Relationship Type="http://schemas.openxmlformats.org/officeDocument/2006/relationships/notesSlide" Target="/ppt/notesSlides/notesSlide36.xml" Id="R02a69548f1dd41e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b8f884a964386" /><Relationship Type="http://schemas.openxmlformats.org/officeDocument/2006/relationships/notesSlide" Target="/ppt/notesSlides/notesSlide37.xml" Id="R71a47633b68640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8C0CA4-99F0-4E8B-87B5-73B930B9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Deep Style Systems for Proposal PPT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C27DC-0522-48FC-9FC1-89573173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4775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258"/>
                </a:solidFill>
              </a:defRPr>
            </a:pPr>
            <a:r>
              <a:rPr sz="1125" b="0">
                <a:solidFill>
                  <a:srgbClr val="6C6258"/>
                </a:solidFill>
              </a:rPr>
              <a:t>每个风格 3 页：Style DNA / Winning Page / Proof Page。目标是把风格做成可复用模板系统，而不是换皮。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86F2FF-4664-4CE0-9B5A-6A5C5DFB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381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66D508-EB87-4DED-BA93-6FE2F09B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17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4CE326-7715-459E-B0F9-CDE731C0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0500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1720"/>
                </a:solidFill>
              </a:defRPr>
            </a:pPr>
            <a:r>
              <a:rPr sz="975" b="1">
                <a:solidFill>
                  <a:srgbClr val="0B1720"/>
                </a:solidFill>
              </a:rPr>
              <a:t>Swiss Boardroom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1B5C97-AAE5-47B3-A1BC-15B53534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190750"/>
            <a:ext cx="1314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C7368"/>
                </a:solidFill>
              </a:defRPr>
            </a:pPr>
            <a:r>
              <a:rPr sz="750" b="0">
                <a:solidFill>
                  <a:srgbClr val="7C7368"/>
                </a:solidFill>
              </a:rPr>
              <a:t>grid / hierarchy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9F90A7-841A-4451-B0D9-1AF06E27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695450"/>
            <a:ext cx="2381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B3CD12-1A6F-4152-B290-BC650112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669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07E023-1C24-4A9F-9ADC-F76DB1B5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0500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50505"/>
                </a:solidFill>
              </a:defRPr>
            </a:pPr>
            <a:r>
              <a:rPr sz="975" b="1">
                <a:solidFill>
                  <a:srgbClr val="050505"/>
                </a:solidFill>
              </a:rPr>
              <a:t>Product Launch Minimal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EC81BF-B98F-4FC2-BAED-54B363E8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90750"/>
            <a:ext cx="1314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C7368"/>
                </a:solidFill>
              </a:defRPr>
            </a:pPr>
            <a:r>
              <a:rPr sz="750" b="0">
                <a:solidFill>
                  <a:srgbClr val="7C7368"/>
                </a:solidFill>
              </a:rPr>
              <a:t>one idea / hero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B6F94C-1BD8-452C-88E5-AC36F2C7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95450"/>
            <a:ext cx="2381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260467-EDD2-47CC-8BB3-B5DC9C34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669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A21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741804-0C7B-48B1-82BD-1A1EA16D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0500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A211C"/>
                </a:solidFill>
              </a:defRPr>
            </a:pPr>
            <a:r>
              <a:rPr sz="975" b="1">
                <a:solidFill>
                  <a:srgbClr val="2A211C"/>
                </a:solidFill>
              </a:rPr>
              <a:t>Cinematic Photo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015A56-589B-4E3F-835F-0121CEC5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90750"/>
            <a:ext cx="1314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C7368"/>
                </a:solidFill>
              </a:defRPr>
            </a:pPr>
            <a:r>
              <a:rPr sz="750" b="0">
                <a:solidFill>
                  <a:srgbClr val="7C7368"/>
                </a:solidFill>
              </a:rPr>
              <a:t>scene / proof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A91BB3-2198-44EF-98CB-AC013221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95450"/>
            <a:ext cx="2381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8118DB-32AF-412B-BF8A-7B4DAD36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669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99A6F8-A4AA-4513-9934-76EF2C0D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90500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Fashion Editorial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E876B0-4033-4AA8-A863-00281F08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190750"/>
            <a:ext cx="1314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C7368"/>
                </a:solidFill>
              </a:defRPr>
            </a:pPr>
            <a:r>
              <a:rPr sz="750" b="0">
                <a:solidFill>
                  <a:srgbClr val="7C7368"/>
                </a:solidFill>
              </a:rPr>
              <a:t>serif / photo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338016-395D-4899-90E3-CBC25C7F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381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AFA224-2A35-46C8-B5DA-46894055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7B32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778B21-45CB-47CD-99D6-6E68751D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6230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B324C"/>
                </a:solidFill>
              </a:defRPr>
            </a:pPr>
            <a:r>
              <a:rPr sz="975" b="1">
                <a:solidFill>
                  <a:srgbClr val="7B324C"/>
                </a:solidFill>
              </a:rPr>
              <a:t>Beauty Gloss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2099D0-9A37-4CDC-9CFD-09664504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48050"/>
            <a:ext cx="1314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C7368"/>
                </a:solidFill>
              </a:defRPr>
            </a:pPr>
            <a:r>
              <a:rPr sz="750" b="0">
                <a:solidFill>
                  <a:srgbClr val="7C7368"/>
                </a:solidFill>
              </a:rPr>
              <a:t>soft / product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4EA9B5-3799-4CF9-8E79-66B0C31C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52750"/>
            <a:ext cx="2381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6AF677-A24A-448D-BEE9-0D8F3D58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242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B94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840D2D-82E2-43FC-B75E-3251EEED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6230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422E"/>
                </a:solidFill>
              </a:defRPr>
            </a:pPr>
            <a:r>
              <a:rPr sz="975" b="1">
                <a:solidFill>
                  <a:srgbClr val="B9422E"/>
                </a:solidFill>
              </a:rPr>
              <a:t>Japanese Minimal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7F5039-FE4D-4F6C-9176-0F71DEEE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48050"/>
            <a:ext cx="1314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C7368"/>
                </a:solidFill>
              </a:defRPr>
            </a:pPr>
            <a:r>
              <a:rPr sz="750" b="0">
                <a:solidFill>
                  <a:srgbClr val="7C7368"/>
                </a:solidFill>
              </a:rPr>
              <a:t>ma / silence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8A126B-C561-4F04-8E59-53D2981D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52750"/>
            <a:ext cx="2381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1FCD94-36A0-481B-A290-9F4D159C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242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971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CDE12E-84AA-49F7-ACBC-03C967F5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6230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97148"/>
                </a:solidFill>
              </a:defRPr>
            </a:pPr>
            <a:r>
              <a:rPr sz="975" b="1">
                <a:solidFill>
                  <a:srgbClr val="D97148"/>
                </a:solidFill>
              </a:rPr>
              <a:t>Japanese Collage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1BDCAA-E439-441D-8FC8-0FE31BFA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48050"/>
            <a:ext cx="1314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C7368"/>
                </a:solidFill>
              </a:defRPr>
            </a:pPr>
            <a:r>
              <a:rPr sz="750" b="0">
                <a:solidFill>
                  <a:srgbClr val="7C7368"/>
                </a:solidFill>
              </a:rPr>
              <a:t>dense / browsing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C734E8-2B34-4974-B9B8-A9C4946A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52750"/>
            <a:ext cx="2381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4D7D67-6B64-445C-9776-AE97FA6B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242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749569-821C-48D5-8979-5D6EFF56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16230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Ink Wash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AF6126-2D8E-478B-9FF9-71E7331E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48050"/>
            <a:ext cx="1314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C7368"/>
                </a:solidFill>
              </a:defRPr>
            </a:pPr>
            <a:r>
              <a:rPr sz="750" b="0">
                <a:solidFill>
                  <a:srgbClr val="7C7368"/>
                </a:solidFill>
              </a:rPr>
              <a:t>void / stroke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4AA1FB-25CA-4315-827F-6568A328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2381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C2BBDD-3C2F-4579-833B-3DFB5DE5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21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167C2D-77CF-4ABC-820E-85A14C74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1960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21D12"/>
                </a:solidFill>
              </a:defRPr>
            </a:pPr>
            <a:r>
              <a:rPr sz="975" b="1">
                <a:solidFill>
                  <a:srgbClr val="321D12"/>
                </a:solidFill>
              </a:rPr>
              <a:t>Oil Painting Salon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4C071E-D5D6-4449-A283-5C8E6170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05350"/>
            <a:ext cx="1314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C7368"/>
                </a:solidFill>
              </a:defRPr>
            </a:pPr>
            <a:r>
              <a:rPr sz="750" b="0">
                <a:solidFill>
                  <a:srgbClr val="7C7368"/>
                </a:solidFill>
              </a:rPr>
              <a:t>texture / ritual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86CF29-FAEF-46D4-ACED-5F919249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210050"/>
            <a:ext cx="2381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41BEA1B-DE72-4A3A-82FD-F0D959D2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815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2BD8BE-4EA8-4B94-B98F-E5227C4A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1960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E-reader Mono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A3AFA7-07C8-4F05-B68B-31EDF52A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05350"/>
            <a:ext cx="1314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C7368"/>
                </a:solidFill>
              </a:defRPr>
            </a:pPr>
            <a:r>
              <a:rPr sz="750" b="0">
                <a:solidFill>
                  <a:srgbClr val="7C7368"/>
                </a:solidFill>
              </a:rPr>
              <a:t>reading / mono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69B1AC-00BD-4E50-97A7-ECDDC823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10050"/>
            <a:ext cx="2381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04A1FB1-D712-443F-B652-15A7B96F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815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A29501D-AF30-49F9-9BA3-DAFF41E9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1960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1B22"/>
                </a:solidFill>
              </a:defRPr>
            </a:pPr>
            <a:r>
              <a:rPr sz="975" b="1">
                <a:solidFill>
                  <a:srgbClr val="161B22"/>
                </a:solidFill>
              </a:rPr>
              <a:t>Pixel Retro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86DB972-816B-4596-B82D-5E15447A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05350"/>
            <a:ext cx="1314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C7368"/>
                </a:solidFill>
              </a:defRPr>
            </a:pPr>
            <a:r>
              <a:rPr sz="750" b="0">
                <a:solidFill>
                  <a:srgbClr val="7C7368"/>
                </a:solidFill>
              </a:rPr>
              <a:t>grid / game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8A661D7-2C3A-424C-BA44-EBAE7976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10050"/>
            <a:ext cx="2381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D6F8729-7877-48DE-BF84-A2AD4F9A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815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90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A7397D0-7638-4EE4-8AA0-B0C7B0A3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1960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90B18"/>
                </a:solidFill>
              </a:defRPr>
            </a:pPr>
            <a:r>
              <a:rPr sz="975" b="1">
                <a:solidFill>
                  <a:srgbClr val="090B18"/>
                </a:solidFill>
              </a:rPr>
              <a:t>Web3 Neo Glass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F001A74-FB22-4AF6-A8D3-2365852D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705350"/>
            <a:ext cx="1314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C7368"/>
                </a:solidFill>
              </a:defRPr>
            </a:pPr>
            <a:r>
              <a:rPr sz="750" b="0">
                <a:solidFill>
                  <a:srgbClr val="7C7368"/>
                </a:solidFill>
              </a:rPr>
              <a:t>neon / glass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33993B-597D-49B3-B201-C1B9912B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8A7E72"/>
                </a:solidFill>
              </a:defRPr>
            </a:pPr>
            <a:r>
              <a:rPr sz="600" b="0">
                <a:solidFill>
                  <a:srgbClr val="8A7E72"/>
                </a:solidFill>
              </a:rPr>
              <a:t>proposal-ppt deep style system demo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AD86F9F-6FC3-4D54-A406-CFDA3118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A7E72"/>
                </a:solidFill>
              </a:defRPr>
            </a:pPr>
            <a:r>
              <a:rPr sz="675" b="0">
                <a:solidFill>
                  <a:srgbClr val="8A7E72"/>
                </a:solidFill>
              </a:rPr>
              <a:t>00 / 34</a:t>
            </a:r>
          </a:p>
        </p:txBody>
      </p:sp>
    </p:spTree>
    <p:extLst>
      <p:ext uri="{BB962C8B-B14F-4D97-AF65-F5344CB8AC3E}">
        <p14:creationId xmlns:p14="http://schemas.microsoft.com/office/powerpoint/2010/main" val="9130553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7F902A-72F3-4EA3-A169-5C6F9960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31B23"/>
                </a:solidFill>
              </a:defRPr>
            </a:pPr>
            <a:r>
              <a:rPr sz="900" b="1">
                <a:solidFill>
                  <a:srgbClr val="E31B23"/>
                </a:solidFill>
              </a:rPr>
              <a:t>DNA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94A5A2-B8AD-4931-8EE9-41CC5AAA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720"/>
                </a:solidFill>
              </a:defRPr>
            </a:pPr>
            <a:r>
              <a:rPr sz="2850" b="1">
                <a:solidFill>
                  <a:srgbClr val="0B1720"/>
                </a:solidFill>
              </a:rPr>
              <a:t>Swiss Boardroom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6A2F9C-51C9-44D2-BEE0-5295686A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6675"/>
                </a:solidFill>
              </a:defRPr>
            </a:pPr>
            <a:r>
              <a:rPr sz="1125" b="0">
                <a:solidFill>
                  <a:srgbClr val="5D6675"/>
                </a:solidFill>
              </a:rPr>
              <a:t>国际主义网格：严格栅格、非对称、低装饰、高可信。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BAEEFC-7A0D-4B1A-BECF-B8B0CB19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495300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8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01DABB-A687-4ACC-B409-F3A07493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431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720"/>
                </a:solidFill>
              </a:defRPr>
            </a:pPr>
            <a:r>
              <a:rPr sz="1200" b="1">
                <a:solidFill>
                  <a:srgbClr val="0B1720"/>
                </a:solidFill>
              </a:rPr>
              <a:t>Style grammar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92F157-BC70-4A32-AF34-71183ACC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3DC070-1B04-4ACB-A8F3-4E6804D1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051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D6675"/>
                </a:solidFill>
              </a:defRPr>
            </a:pPr>
            <a:r>
              <a:rPr sz="900" b="0">
                <a:solidFill>
                  <a:srgbClr val="5D6675"/>
                </a:solidFill>
              </a:rPr>
              <a:t>12 栏或 6 栏网格，所有对象有明确坐标。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3E3FB-0254-4704-B66F-09D1339D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19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A1B171-DD02-4515-B365-F80CABD1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D6675"/>
                </a:solidFill>
              </a:defRPr>
            </a:pPr>
            <a:r>
              <a:rPr sz="900" b="0">
                <a:solidFill>
                  <a:srgbClr val="5D6675"/>
                </a:solidFill>
              </a:rPr>
              <a:t>标题大、正文小，层级用字号和位置解决。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B3CED9-EC67-48EB-BB1C-29DEB7F3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576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DDEC45-9E51-4086-945D-39EF7095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814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D6675"/>
                </a:solidFill>
              </a:defRPr>
            </a:pPr>
            <a:r>
              <a:rPr sz="900" b="0">
                <a:solidFill>
                  <a:srgbClr val="5D6675"/>
                </a:solidFill>
              </a:rPr>
              <a:t>红色只作索引和关键风险，不大面积使用。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E2E9B0-435A-4C66-86F0-D6666F61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A405E4-3399-43C4-9C20-C020645A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195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D6675"/>
                </a:solidFill>
              </a:defRPr>
            </a:pPr>
            <a:r>
              <a:rPr sz="900" b="0">
                <a:solidFill>
                  <a:srgbClr val="5D6675"/>
                </a:solidFill>
              </a:rPr>
              <a:t>证据页优先表格、数据条、摄影裁切。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5BFAC5-210C-40A2-A368-1A72752F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23812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9CFDD0-5A1B-4FAA-8423-3F049757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241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Use for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22B2A5-1141-4F03-A87E-B456AA13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05100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B2B / 咨询 / 政企 / 年度运营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036F6C-D085-4550-ACD9-850DA5FE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67150"/>
            <a:ext cx="23812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DDD8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F86212-A034-48B3-8013-43B7593F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148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31B23"/>
                </a:solidFill>
              </a:defRPr>
            </a:pPr>
            <a:r>
              <a:rPr sz="975" b="1">
                <a:solidFill>
                  <a:srgbClr val="E31B23"/>
                </a:solidFill>
              </a:rPr>
              <a:t>Avoid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BE46D8-A456-49BC-9D7C-A3E0CA23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5770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D6675"/>
                </a:solidFill>
              </a:defRPr>
            </a:pPr>
            <a:r>
              <a:rPr sz="975" b="0">
                <a:solidFill>
                  <a:srgbClr val="5D6675"/>
                </a:solidFill>
              </a:rPr>
              <a:t>不要加装饰曲线、渐变、可爱图标。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ADBA27-374C-481D-81E1-03DD6124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14500"/>
            <a:ext cx="2190750" cy="4000500"/>
          </a:xfrm>
          <a:prstGeom xmlns:a="http://schemas.openxmlformats.org/drawingml/2006/main" prst="roundRect">
            <a:avLst>
              <a:gd name="adj" fmla="val 870"/>
            </a:avLst>
          </a:prstGeom>
          <a:solidFill xmlns:a="http://schemas.openxmlformats.org/drawingml/2006/main">
            <a:srgbClr val="0B17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3C4CB2-824B-4D9F-8BE0-A44E8A5D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95500"/>
            <a:ext cx="15811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43C36C-B3DC-4973-B9ED-A9F99D89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290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6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9452F1-C319-475E-9FC5-37A0409B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719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6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E95B14-747A-4F6C-BA49-B68E999F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1480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6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5AAA46-CC37-4749-BED4-7E17658B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8A8A8A"/>
                </a:solidFill>
              </a:defRPr>
            </a:pPr>
            <a:r>
              <a:rPr sz="600" b="0">
                <a:solidFill>
                  <a:srgbClr val="8A8A8A"/>
                </a:solidFill>
              </a:rPr>
              <a:t>proposal-ppt deep style system demo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A898B2-87E0-43AA-A38A-CF5B4D27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A8A8A"/>
                </a:solidFill>
              </a:defRPr>
            </a:pPr>
            <a:r>
              <a:rPr sz="675" b="0">
                <a:solidFill>
                  <a:srgbClr val="8A8A8A"/>
                </a:solidFill>
              </a:rPr>
              <a:t>01A / 34</a:t>
            </a:r>
          </a:p>
        </p:txBody>
      </p:sp>
    </p:spTree>
    <p:extLst>
      <p:ext uri="{BB962C8B-B14F-4D97-AF65-F5344CB8AC3E}">
        <p14:creationId xmlns:p14="http://schemas.microsoft.com/office/powerpoint/2010/main" val="15636602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F360FA-AECB-46AA-8DC4-649998C1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8BED35-DEF3-4667-A6A0-C2125FF5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E31B23"/>
                </a:solidFill>
              </a:defRPr>
            </a:pPr>
            <a:r>
              <a:rPr sz="2850" b="1">
                <a:solidFill>
                  <a:srgbClr val="E31B23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6609EA-CBEB-4D26-A1BB-0F02C329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7048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720"/>
                </a:solidFill>
              </a:defRPr>
            </a:pPr>
            <a:r>
              <a:rPr sz="2700" b="1">
                <a:solidFill>
                  <a:srgbClr val="0B1720"/>
                </a:solidFill>
              </a:rPr>
              <a:t>The proposal wins when the argument is easier to audit than the alternatives.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BF1035-DCBC-4567-9941-71769B23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32410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BB0ECA-F2CD-4C8A-9973-81612642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6289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Winning thesis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F02EF0-3776-4BA7-A2E9-61C32C19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200400"/>
            <a:ext cx="2247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用可验证结构降低评审风险。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1B024E-9618-44F7-A273-7F231705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324100"/>
            <a:ext cx="4762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8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46E82D-A960-49F3-BC53-05D351AA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32410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E48242-952A-49B2-92B8-9265DF8C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42887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E31B23"/>
                </a:solidFill>
              </a:defRPr>
            </a:pPr>
            <a:r>
              <a:rPr sz="750" b="1">
                <a:solidFill>
                  <a:srgbClr val="E31B23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7DD3B-297C-42B8-9002-9BC0DCD8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193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客户问题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E099B4-D285-4F5D-8A4A-AE40E006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28875"/>
            <a:ext cx="2838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B6B6B"/>
                </a:solidFill>
              </a:defRPr>
            </a:pPr>
            <a:r>
              <a:rPr sz="750" b="0">
                <a:solidFill>
                  <a:srgbClr val="6B6B6B"/>
                </a:solidFill>
              </a:rPr>
              <a:t>one verifiable commitment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247FC8-EBEC-4E62-A5D4-F75174EE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19400"/>
            <a:ext cx="4762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8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1055DF-6247-4FB8-8113-E3D662AA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1940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A17862-692D-4A03-971D-341AF3BA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92417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B1720"/>
                </a:solidFill>
              </a:defRPr>
            </a:pPr>
            <a:r>
              <a:rPr sz="750" b="1">
                <a:solidFill>
                  <a:srgbClr val="0B1720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0F002F-8D57-4DCE-A8BC-5E3DD9B1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14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核心判断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060280-6563-4CEA-B8D9-AAAF7D36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24175"/>
            <a:ext cx="2838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B6B6B"/>
                </a:solidFill>
              </a:defRPr>
            </a:pPr>
            <a:r>
              <a:rPr sz="750" b="0">
                <a:solidFill>
                  <a:srgbClr val="6B6B6B"/>
                </a:solidFill>
              </a:rPr>
              <a:t>one verifiable commitment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4B5590-95F5-4590-B531-5D4F12D3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314700"/>
            <a:ext cx="4762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8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D59A1B-EC19-417B-94C8-152DDDBA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31470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7D3F83-3A2A-432F-B142-824D6B04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41947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9AA3B2"/>
                </a:solidFill>
              </a:defRPr>
            </a:pPr>
            <a:r>
              <a:rPr sz="750" b="1">
                <a:solidFill>
                  <a:srgbClr val="9AA3B2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C51880-888A-40AB-BD80-F044A741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099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执行证据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D34194-2F53-4DBB-B0EB-481A29A8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19475"/>
            <a:ext cx="2838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B6B6B"/>
                </a:solidFill>
              </a:defRPr>
            </a:pPr>
            <a:r>
              <a:rPr sz="750" b="0">
                <a:solidFill>
                  <a:srgbClr val="6B6B6B"/>
                </a:solidFill>
              </a:rPr>
              <a:t>one verifiable commitment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C3862A-C2DB-49DB-92CD-0826CD9D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810000"/>
            <a:ext cx="4762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8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813C24-D3C1-4166-A9F1-7365AFAA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81000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4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13A26D-300C-484C-B193-2E201AEC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91477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8A45D"/>
                </a:solidFill>
              </a:defRPr>
            </a:pPr>
            <a:r>
              <a:rPr sz="750" b="1">
                <a:solidFill>
                  <a:srgbClr val="C8A45D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258D8E-F481-419E-83E3-C9C5F743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052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预算边界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87EEFC-A0B3-42A8-B39A-F2363F00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14775"/>
            <a:ext cx="2838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B6B6B"/>
                </a:solidFill>
              </a:defRPr>
            </a:pPr>
            <a:r>
              <a:rPr sz="750" b="0">
                <a:solidFill>
                  <a:srgbClr val="6B6B6B"/>
                </a:solidFill>
              </a:rPr>
              <a:t>one verifiable commitment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924C2A-1F3F-4985-B3B2-E86E78B9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8A8A8A"/>
                </a:solidFill>
              </a:defRPr>
            </a:pPr>
            <a:r>
              <a:rPr sz="600" b="0">
                <a:solidFill>
                  <a:srgbClr val="8A8A8A"/>
                </a:solidFill>
              </a:rPr>
              <a:t>proposal-ppt deep style system demo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816714-F403-4F22-AF39-8BD495B1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A8A8A"/>
                </a:solidFill>
              </a:defRPr>
            </a:pPr>
            <a:r>
              <a:rPr sz="675" b="0">
                <a:solidFill>
                  <a:srgbClr val="8A8A8A"/>
                </a:solidFill>
              </a:rPr>
              <a:t>01B / 34</a:t>
            </a:r>
          </a:p>
        </p:txBody>
      </p:sp>
    </p:spTree>
    <p:extLst>
      <p:ext uri="{BB962C8B-B14F-4D97-AF65-F5344CB8AC3E}">
        <p14:creationId xmlns:p14="http://schemas.microsoft.com/office/powerpoint/2010/main" val="7891457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E7E600-CB9C-4051-A599-DA849E90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31B23"/>
                </a:solidFill>
              </a:defRPr>
            </a:pPr>
            <a:r>
              <a:rPr sz="1125" b="1">
                <a:solidFill>
                  <a:srgbClr val="E31B23"/>
                </a:solidFill>
              </a:rPr>
              <a:t>Proof page pattern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A6AAE-D0BE-4A78-B700-BD6F3305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720"/>
                </a:solidFill>
              </a:defRPr>
            </a:pPr>
            <a:r>
              <a:rPr sz="2550" b="1">
                <a:solidFill>
                  <a:srgbClr val="0B1720"/>
                </a:solidFill>
              </a:rPr>
              <a:t>证据页要像审计表，而不是宣传页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61D436-55C2-4F7C-94B4-5BA61B33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753350" cy="2857500"/>
          </a:xfrm>
          <a:prstGeom xmlns:a="http://schemas.openxmlformats.org/drawingml/2006/main" prst="roundRect">
            <a:avLst>
              <a:gd name="adj" fmla="val 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0E2E11-5353-4F04-BB8C-7DB08226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938338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EFCB61-C9D1-4A81-9913-4E6DE48B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Criteria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79FF2-B1DB-43FB-8E83-E0A21DFA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138" y="2000250"/>
            <a:ext cx="1938338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08CADD-B68F-46FE-A42D-B507B902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588" y="2133600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B1720"/>
                </a:solidFill>
              </a:defRPr>
            </a:pPr>
            <a:r>
              <a:rPr sz="825" b="1">
                <a:solidFill>
                  <a:srgbClr val="0B1720"/>
                </a:solidFill>
              </a:rPr>
              <a:t>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DA5845-E0A7-43C9-987A-815499A8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000250"/>
            <a:ext cx="1938338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8B47CA-A5E7-4904-89A5-052FA940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133600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B1720"/>
                </a:solidFill>
              </a:defRPr>
            </a:pPr>
            <a:r>
              <a:rPr sz="825" b="1">
                <a:solidFill>
                  <a:srgbClr val="0B1720"/>
                </a:solidFill>
              </a:rPr>
              <a:t>Owner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7BBB6A-B113-4CE4-A184-175424BC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813" y="2000250"/>
            <a:ext cx="1938338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7EAD94-FD18-4B0B-AF8D-5B04D0BD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263" y="2133600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B1720"/>
                </a:solidFill>
              </a:defRPr>
            </a:pPr>
            <a:r>
              <a:rPr sz="825" b="1">
                <a:solidFill>
                  <a:srgbClr val="0B1720"/>
                </a:solidFill>
              </a:rPr>
              <a:t>Acceptance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EBECF5-C2C4-42C0-97DD-1C0B49AC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7753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6"/>
          </a:solidFill>
          <a:ln xmlns:a="http://schemas.openxmlformats.org/drawingml/2006/main" w="9525">
            <a:solidFill>
              <a:srgbClr val="DDE2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8FE642-0D20-41AC-8291-3845DDBE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E31B23"/>
                </a:solidFill>
              </a:defRPr>
            </a:pPr>
            <a:r>
              <a:rPr sz="825" b="1">
                <a:solidFill>
                  <a:srgbClr val="E31B23"/>
                </a:solidFill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E4040A-8456-4F65-B10D-74CE3A13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7753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1645AC-1C0C-4F4D-96F9-7ED924DB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E31B23"/>
                </a:solidFill>
              </a:defRPr>
            </a:pPr>
            <a:r>
              <a:rPr sz="825" b="1">
                <a:solidFill>
                  <a:srgbClr val="E31B23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4A730F-B3A6-4BBF-A1C0-78C79087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753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6"/>
          </a:solidFill>
          <a:ln xmlns:a="http://schemas.openxmlformats.org/drawingml/2006/main" w="9525">
            <a:solidFill>
              <a:srgbClr val="DDE2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540989-27AA-4B66-B06E-BD4CA0AD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E31B23"/>
                </a:solidFill>
              </a:defRPr>
            </a:pPr>
            <a:r>
              <a:rPr sz="825" b="1">
                <a:solidFill>
                  <a:srgbClr val="E31B23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6DBE0B-53C4-4763-9825-86181532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7753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FBF8C3-17D8-4300-91D5-3AF7C6EC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E31B23"/>
                </a:solidFill>
              </a:defRPr>
            </a:pPr>
            <a:r>
              <a:rPr sz="825" b="1">
                <a:solidFill>
                  <a:srgbClr val="E31B23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6E3EE6-8C6F-40A0-88EB-1CA8DB9B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00250"/>
            <a:ext cx="2362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F65495-1407-4943-AFBC-6BA58032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81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So what?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36F651-0038-4275-8D5C-AFCCAA6B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28950"/>
            <a:ext cx="161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每一个表格都必须有结论，否则只是把 Excel 搬进 PPT。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8089A5-D154-4738-AC79-CBD0982E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8A8A8A"/>
                </a:solidFill>
              </a:defRPr>
            </a:pPr>
            <a:r>
              <a:rPr sz="600" b="0">
                <a:solidFill>
                  <a:srgbClr val="8A8A8A"/>
                </a:solidFill>
              </a:rPr>
              <a:t>proposal-ppt deep style system demo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6BD59F-ECEC-408C-A3C7-18B3F306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A8A8A"/>
                </a:solidFill>
              </a:defRPr>
            </a:pPr>
            <a:r>
              <a:rPr sz="675" b="0">
                <a:solidFill>
                  <a:srgbClr val="8A8A8A"/>
                </a:solidFill>
              </a:rPr>
              <a:t>01C / 34</a:t>
            </a:r>
          </a:p>
        </p:txBody>
      </p:sp>
    </p:spTree>
    <p:extLst>
      <p:ext uri="{BB962C8B-B14F-4D97-AF65-F5344CB8AC3E}">
        <p14:creationId xmlns:p14="http://schemas.microsoft.com/office/powerpoint/2010/main" val="14462213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38F002-FB27-4980-8F12-010B68EA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AB4FF"/>
                </a:solidFill>
              </a:defRPr>
            </a:pPr>
            <a:r>
              <a:rPr sz="900" b="1">
                <a:solidFill>
                  <a:srgbClr val="8AB4FF"/>
                </a:solidFill>
              </a:rPr>
              <a:t>DNA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FD47FB-AFC8-44E3-AF16-72D81091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Product Launch Minimal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41325B-1848-4098-B6A4-BFF36288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8BEC8"/>
                </a:solidFill>
              </a:defRPr>
            </a:pPr>
            <a:r>
              <a:rPr sz="1125" b="0">
                <a:solidFill>
                  <a:srgbClr val="B8BEC8"/>
                </a:solidFill>
              </a:rPr>
              <a:t>发布会极简：一页一个想法，一个产品视觉，一个被记住的句子。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EA1D1A-764C-43A6-97E1-EE5C7C1E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495300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8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78091B-A792-4700-AA35-071F12C3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431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Style grammar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537106-9013-42A2-AC3D-107B9FC3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B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0BB534-4E76-4E71-B100-65A3DD85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051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8BEC8"/>
                </a:solidFill>
              </a:defRPr>
            </a:pPr>
            <a:r>
              <a:rPr sz="900" b="0">
                <a:solidFill>
                  <a:srgbClr val="B8BEC8"/>
                </a:solidFill>
              </a:rPr>
              <a:t>黑白/极低色彩，信息密度极低。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B6BDA7-4750-4851-B1CE-CDB57B2B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19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B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B5EA64-DA83-4230-9840-10061DCE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8BEC8"/>
                </a:solidFill>
              </a:defRPr>
            </a:pPr>
            <a:r>
              <a:rPr sz="900" b="0">
                <a:solidFill>
                  <a:srgbClr val="B8BEC8"/>
                </a:solidFill>
              </a:rPr>
              <a:t>主标题可超过 52pt，正文少于 20 字。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700C12-FC9A-4378-AE33-C8C24431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576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B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31C37A-B791-4A69-8A55-B83B4F9F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814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8BEC8"/>
                </a:solidFill>
              </a:defRPr>
            </a:pPr>
            <a:r>
              <a:rPr sz="900" b="0">
                <a:solidFill>
                  <a:srgbClr val="B8BEC8"/>
                </a:solidFill>
              </a:rPr>
              <a:t>视觉中心是产品或概念物，不是卡片网格。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665031-337A-4B82-9F1B-D377580E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B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D0F1F4-927E-4A07-B39B-B0481B5B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195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8BEC8"/>
                </a:solidFill>
              </a:defRPr>
            </a:pPr>
            <a:r>
              <a:rPr sz="900" b="0">
                <a:solidFill>
                  <a:srgbClr val="B8BEC8"/>
                </a:solidFill>
              </a:rPr>
              <a:t>复杂数据放后页，不破坏发布页张力。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192D07-4726-4179-A466-87D85A34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23812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8AB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C80A65-4F57-48E5-9B7E-5225332C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241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Use for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938201-050C-46E8-8A19-A82A5AF9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05100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封面 / big idea / 产品战略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38C09E-9D76-40C8-A127-8A3FC465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67150"/>
            <a:ext cx="23812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DDD8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5E1DF4-D619-4CA3-8F5E-FDEA5D1E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148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AB4FF"/>
                </a:solidFill>
              </a:defRPr>
            </a:pPr>
            <a:r>
              <a:rPr sz="975" b="1">
                <a:solidFill>
                  <a:srgbClr val="8AB4FF"/>
                </a:solidFill>
              </a:rPr>
              <a:t>Avoid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0B1390-FAA3-49B4-BFFF-87C3FEF6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5770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8BEC8"/>
                </a:solidFill>
              </a:defRPr>
            </a:pPr>
            <a:r>
              <a:rPr sz="975" b="0">
                <a:solidFill>
                  <a:srgbClr val="B8BEC8"/>
                </a:solidFill>
              </a:rPr>
              <a:t>不适合报价、KPI、排期密集页。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198BBA-9DB1-4CC6-81A2-F171DED3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14500"/>
            <a:ext cx="2190750" cy="4000500"/>
          </a:xfrm>
          <a:prstGeom xmlns:a="http://schemas.openxmlformats.org/drawingml/2006/main" prst="roundRect">
            <a:avLst>
              <a:gd name="adj" fmla="val 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078404-2FE5-472E-9041-7C6F753D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95500"/>
            <a:ext cx="15811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8AB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CFB5F8-92D9-4770-8609-A8F696C6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290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3CD69A-C46E-46F7-8839-95458875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719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5F137C-A0E0-47BB-95A0-BACB13BE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1480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E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E80C11-FA23-4E51-887A-D4812408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777777"/>
                </a:solidFill>
              </a:defRPr>
            </a:pPr>
            <a:r>
              <a:rPr sz="600" b="0">
                <a:solidFill>
                  <a:srgbClr val="777777"/>
                </a:solidFill>
              </a:rPr>
              <a:t>proposal-ppt deep style system demo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B86CEE-F6CC-4F6B-9D31-E03DB0F9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77777"/>
                </a:solidFill>
              </a:defRPr>
            </a:pPr>
            <a:r>
              <a:rPr sz="675" b="0">
                <a:solidFill>
                  <a:srgbClr val="777777"/>
                </a:solidFill>
              </a:rPr>
              <a:t>02A / 34</a:t>
            </a:r>
          </a:p>
        </p:txBody>
      </p:sp>
    </p:spTree>
    <p:extLst>
      <p:ext uri="{BB962C8B-B14F-4D97-AF65-F5344CB8AC3E}">
        <p14:creationId xmlns:p14="http://schemas.microsoft.com/office/powerpoint/2010/main" val="3182937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472047-8F42-4132-9413-2BB8939C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AB4FF"/>
                </a:solidFill>
              </a:defRPr>
            </a:pPr>
            <a:r>
              <a:rPr sz="975" b="1">
                <a:solidFill>
                  <a:srgbClr val="8AB4FF"/>
                </a:solidFill>
              </a:rPr>
              <a:t>Product Launch Minimal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F924C1-0C30-4484-B333-8A8B3B52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One plan.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Three proofs.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No noise.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A51EC3-5E04-4B77-B651-9DE3F880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EB4BF"/>
                </a:solidFill>
              </a:defRPr>
            </a:pPr>
            <a:r>
              <a:rPr sz="1200" b="0">
                <a:solidFill>
                  <a:srgbClr val="AEB4BF"/>
                </a:solidFill>
              </a:rPr>
              <a:t>把提案压缩到一句能被客户转述的话。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E800D1-19DC-410C-B35C-2C8EB8B3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123950"/>
            <a:ext cx="2286000" cy="4572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C1C1E"/>
          </a:solidFill>
          <a:ln xmlns:a="http://schemas.openxmlformats.org/drawingml/2006/main" w="9525">
            <a:solidFill>
              <a:srgbClr val="2B2B2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9C20F0-FABF-4140-8112-7CE94762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466850"/>
            <a:ext cx="1676400" cy="3886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CA3128-8961-457B-8BB1-356A7951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86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B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CABBD-A87F-4B85-858E-425BABDA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71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50505"/>
                </a:solidFill>
              </a:defRPr>
            </a:pPr>
            <a:r>
              <a:rPr sz="1275" b="1">
                <a:solidFill>
                  <a:srgbClr val="050505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239181-94D6-4389-BAA3-AEEB8842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777777"/>
                </a:solidFill>
              </a:defRPr>
            </a:pPr>
            <a:r>
              <a:rPr sz="600" b="0">
                <a:solidFill>
                  <a:srgbClr val="777777"/>
                </a:solidFill>
              </a:rPr>
              <a:t>proposal-ppt deep style system demo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1CE276-A5CD-46ED-902E-5CF304EC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77777"/>
                </a:solidFill>
              </a:defRPr>
            </a:pPr>
            <a:r>
              <a:rPr sz="675" b="0">
                <a:solidFill>
                  <a:srgbClr val="777777"/>
                </a:solidFill>
              </a:rPr>
              <a:t>02B / 34</a:t>
            </a:r>
          </a:p>
        </p:txBody>
      </p:sp>
    </p:spTree>
    <p:extLst>
      <p:ext uri="{BB962C8B-B14F-4D97-AF65-F5344CB8AC3E}">
        <p14:creationId xmlns:p14="http://schemas.microsoft.com/office/powerpoint/2010/main" val="10971855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77EE9E-6BCB-4FB2-8ECE-45D2097E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AB4FF"/>
                </a:solidFill>
              </a:defRPr>
            </a:pPr>
            <a:r>
              <a:rPr sz="975" b="1">
                <a:solidFill>
                  <a:srgbClr val="8AB4FF"/>
                </a:solidFill>
              </a:rPr>
              <a:t>Proof after the reveal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08F43A-65CC-4115-8AEC-EA5C9219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After the big idea, make the evidence feel inevitable.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508E92-887E-4702-8F60-4A97F967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86050"/>
            <a:ext cx="4953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1B29"/>
          </a:solidFill>
          <a:ln xmlns:a="http://schemas.openxmlformats.org/drawingml/2006/main" w="9525">
            <a:solidFill>
              <a:srgbClr val="3039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4D1B4-0CE7-4951-AFC9-43F98FC0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8605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B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1C0092-E9E2-485D-9658-D755C862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9082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8AB4FF"/>
                </a:solidFill>
              </a:defRPr>
            </a:pPr>
            <a:r>
              <a:rPr sz="750" b="1">
                <a:solidFill>
                  <a:srgbClr val="8AB4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466911-F9A0-470D-BC2D-2631B03C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7813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客户问题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8EB753-FEC9-4274-957B-916DE300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90825"/>
            <a:ext cx="3028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8CC"/>
                </a:solidFill>
              </a:defRPr>
            </a:pPr>
            <a:r>
              <a:rPr sz="750" b="0">
                <a:solidFill>
                  <a:srgbClr val="AEB8CC"/>
                </a:solidFill>
              </a:rPr>
              <a:t>one verifiable commitment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3DC81F-71B3-4989-8C8E-F52405A6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81350"/>
            <a:ext cx="4953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1B29"/>
          </a:solidFill>
          <a:ln xmlns:a="http://schemas.openxmlformats.org/drawingml/2006/main" w="9525">
            <a:solidFill>
              <a:srgbClr val="3039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2EC7F4-D0BF-4325-A825-4814D73C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8135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EC9934-3F8A-4AB3-A5CD-A2D7474B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8612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BB16A4-465E-4315-B2DC-82FC9929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2766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核心判断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264645-48BC-47D6-980E-52CB0599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86125"/>
            <a:ext cx="3028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8CC"/>
                </a:solidFill>
              </a:defRPr>
            </a:pPr>
            <a:r>
              <a:rPr sz="750" b="0">
                <a:solidFill>
                  <a:srgbClr val="AEB8CC"/>
                </a:solidFill>
              </a:rPr>
              <a:t>one verifiable commitment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C0DF28-0B8E-40A3-9D97-3C4115A6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76650"/>
            <a:ext cx="4953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1B29"/>
          </a:solidFill>
          <a:ln xmlns:a="http://schemas.openxmlformats.org/drawingml/2006/main" w="9525">
            <a:solidFill>
              <a:srgbClr val="3039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B4487E-902D-47EB-B33A-73F86F77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7665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350452-ED2E-45B2-A272-96EFA3F3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8142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55555"/>
                </a:solidFill>
              </a:defRPr>
            </a:pPr>
            <a:r>
              <a:rPr sz="750" b="1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CA1E12-8C24-4D28-B027-5FAAB4C4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719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执行证据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B72241-4B58-4CD1-907F-DF8AB94B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81425"/>
            <a:ext cx="3028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8CC"/>
                </a:solidFill>
              </a:defRPr>
            </a:pPr>
            <a:r>
              <a:rPr sz="750" b="0">
                <a:solidFill>
                  <a:srgbClr val="AEB8CC"/>
                </a:solidFill>
              </a:rPr>
              <a:t>one verifiable commitment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EA84FB-1E50-48EA-8E51-0C5E9863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4953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1B29"/>
          </a:solidFill>
          <a:ln xmlns:a="http://schemas.openxmlformats.org/drawingml/2006/main" w="9525">
            <a:solidFill>
              <a:srgbClr val="3039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F04AC6-B88A-4B90-BA00-AF607643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56A98E-1F13-4E28-A4E5-9542316E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7672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B2B2B"/>
                </a:solidFill>
              </a:defRPr>
            </a:pPr>
            <a:r>
              <a:rPr sz="750" b="1">
                <a:solidFill>
                  <a:srgbClr val="2B2B2B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B6A4DF-D5B2-4158-B939-E9D257E1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672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预算边界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B83CA5-4DAD-4053-A68C-344263CA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276725"/>
            <a:ext cx="3028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8CC"/>
                </a:solidFill>
              </a:defRPr>
            </a:pPr>
            <a:r>
              <a:rPr sz="750" b="0">
                <a:solidFill>
                  <a:srgbClr val="AEB8CC"/>
                </a:solidFill>
              </a:rPr>
              <a:t>one verifiable commitment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FAEB3A-2F12-4B73-8F34-2DF50ED2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62200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2B2B2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FE8E46-8F87-4B4C-B4C3-31C57528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86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One chart only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6AF297-599B-4262-9B1B-350EF21A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38500"/>
            <a:ext cx="2095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2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8B4712-C1E1-47A7-B16B-6B0888FD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38500"/>
            <a:ext cx="171831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B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4DD54B-4A53-4208-A7F8-18A207CC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57600"/>
            <a:ext cx="2095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2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ED960C-ADC0-4B25-AEA7-BED2ACEF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57600"/>
            <a:ext cx="134112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9F3B6F-5C74-43EC-857E-AE5475E3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76700"/>
            <a:ext cx="2095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2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D6EB9B-A627-4098-9385-1A221A64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76700"/>
            <a:ext cx="100584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BD005A-D45E-49B2-A5F1-F6BEACE8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777777"/>
                </a:solidFill>
              </a:defRPr>
            </a:pPr>
            <a:r>
              <a:rPr sz="600" b="0">
                <a:solidFill>
                  <a:srgbClr val="777777"/>
                </a:solidFill>
              </a:rPr>
              <a:t>proposal-ppt deep style system demo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228478-70A8-4C41-8E6E-A849DE5D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77777"/>
                </a:solidFill>
              </a:defRPr>
            </a:pPr>
            <a:r>
              <a:rPr sz="675" b="0">
                <a:solidFill>
                  <a:srgbClr val="777777"/>
                </a:solidFill>
              </a:rPr>
              <a:t>02C / 34</a:t>
            </a:r>
          </a:p>
        </p:txBody>
      </p:sp>
    </p:spTree>
    <p:extLst>
      <p:ext uri="{BB962C8B-B14F-4D97-AF65-F5344CB8AC3E}">
        <p14:creationId xmlns:p14="http://schemas.microsoft.com/office/powerpoint/2010/main" val="8439763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AACB96-C404-4CB4-A826-76827E1C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4B86B"/>
                </a:solidFill>
              </a:defRPr>
            </a:pPr>
            <a:r>
              <a:rPr sz="900" b="1">
                <a:solidFill>
                  <a:srgbClr val="E4B86B"/>
                </a:solidFill>
              </a:rPr>
              <a:t>DNA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E41F50-E715-43B0-9BE0-314C1DD1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Cinematic Photography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546992-875D-44E4-AC29-D7BCB5B0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FB7AE"/>
                </a:solidFill>
              </a:defRPr>
            </a:pPr>
            <a:r>
              <a:rPr sz="1125" b="0">
                <a:solidFill>
                  <a:srgbClr val="BFB7AE"/>
                </a:solidFill>
              </a:rPr>
              <a:t>摄影叙事：画面负责情绪与真实感，右侧/底部负责商业判断。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0691E-FDE6-4035-998C-BBB0C60F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495300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8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D9DF61-A08D-4E13-80E2-6F0A9F60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431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Style grammar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036FEF-2122-4F40-BEAA-C9C3A893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8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BF4220-C6E1-4BA1-BFA4-1A9D56E5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051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FB7AE"/>
                </a:solidFill>
              </a:defRPr>
            </a:pPr>
            <a:r>
              <a:rPr sz="900" b="0">
                <a:solidFill>
                  <a:srgbClr val="BFB7AE"/>
                </a:solidFill>
              </a:rPr>
              <a:t>必须用真实产品、真实场景或真实案例图。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C0F2ED-A9AE-4A57-AB08-0179C06F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19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8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6D2DF1-5119-4291-AB82-201B2E6B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FB7AE"/>
                </a:solidFill>
              </a:defRPr>
            </a:pPr>
            <a:r>
              <a:rPr sz="900" b="0">
                <a:solidFill>
                  <a:srgbClr val="BFB7AE"/>
                </a:solidFill>
              </a:rPr>
              <a:t>文字压在暗部或独立深色栏，不压关键画面。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5DD7CC-FBF2-4B7E-AB42-6555596A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576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8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499545-51FD-48DE-9244-3D565144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814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FB7AE"/>
                </a:solidFill>
              </a:defRPr>
            </a:pPr>
            <a:r>
              <a:rPr sz="900" b="0">
                <a:solidFill>
                  <a:srgbClr val="BFB7AE"/>
                </a:solidFill>
              </a:rPr>
              <a:t>一张主图只证明一个判断。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EEB470-A9EC-48C8-A877-AA706092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8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740685-9402-4AFC-BD31-5101F06B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195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FB7AE"/>
                </a:solidFill>
              </a:defRPr>
            </a:pPr>
            <a:r>
              <a:rPr sz="900" b="0">
                <a:solidFill>
                  <a:srgbClr val="BFB7AE"/>
                </a:solidFill>
              </a:rPr>
              <a:t>适合封面、案例页、样稿页、场景页。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22C411-CF20-44DD-B1E5-7C29A395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23812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4B8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26E4C0-BB59-4653-96E0-BF359C02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241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Use for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3AF2D2-4800-464B-B910-5431941F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05100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品牌故事 / 场景证明 / 活动提案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9B0BF6-6BE4-4F01-B8B2-FC55B411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67150"/>
            <a:ext cx="23812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DDD8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249199-4839-45BE-9120-9CE131C5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148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4B86B"/>
                </a:solidFill>
              </a:defRPr>
            </a:pPr>
            <a:r>
              <a:rPr sz="975" b="1">
                <a:solidFill>
                  <a:srgbClr val="E4B86B"/>
                </a:solidFill>
              </a:rPr>
              <a:t>Avoid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797274-E3C0-4D93-9936-F559797C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5770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FB7AE"/>
                </a:solidFill>
              </a:defRPr>
            </a:pPr>
            <a:r>
              <a:rPr sz="975" b="0">
                <a:solidFill>
                  <a:srgbClr val="BFB7AE"/>
                </a:solidFill>
              </a:rPr>
              <a:t>不要用模糊氛围图替代证据。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BD627F-A735-44B3-BD8D-DBB84290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14500"/>
            <a:ext cx="2190750" cy="4000500"/>
          </a:xfrm>
          <a:prstGeom xmlns:a="http://schemas.openxmlformats.org/drawingml/2006/main" prst="roundRect">
            <a:avLst>
              <a:gd name="adj" fmla="val 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40FAA4-FF13-4DBA-A6FF-B2E75DC1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95500"/>
            <a:ext cx="15811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4B8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57AD9B-B9A4-4E53-A496-C6B1A545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290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B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68362F-23F3-444D-8A3A-03628B75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719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B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24FB06-4A41-40C3-875A-D085867A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1480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B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BEAA6F-8932-460C-8E0C-49AF7A85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8A8179"/>
                </a:solidFill>
              </a:defRPr>
            </a:pPr>
            <a:r>
              <a:rPr sz="600" b="0">
                <a:solidFill>
                  <a:srgbClr val="8A8179"/>
                </a:solidFill>
              </a:rPr>
              <a:t>proposal-ppt deep style system demo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F70F6B-EDA4-48BF-AB25-8E8AD5F5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A8179"/>
                </a:solidFill>
              </a:defRPr>
            </a:pPr>
            <a:r>
              <a:rPr sz="675" b="0">
                <a:solidFill>
                  <a:srgbClr val="8A8179"/>
                </a:solidFill>
              </a:rPr>
              <a:t>03A / 34</a:t>
            </a:r>
          </a:p>
        </p:txBody>
      </p:sp>
    </p:spTree>
    <p:extLst>
      <p:ext uri="{BB962C8B-B14F-4D97-AF65-F5344CB8AC3E}">
        <p14:creationId xmlns:p14="http://schemas.microsoft.com/office/powerpoint/2010/main" val="4041627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54F0D7-22A0-45A0-B3E3-C8E855D8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81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1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1D9A7A-6153-4836-85F0-0CD1AC1C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62000"/>
            <a:ext cx="4953000" cy="3714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46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A7A999-4235-4C05-82B7-7639DDD0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885950"/>
            <a:ext cx="4953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5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A19185-CF5D-4AB0-BA84-AF333B24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7810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7F83D-2105-435F-84E6-D2B567C3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用真实场景证明，方案不是纸面推演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61FBF2-53AF-4FA2-BC3B-0C7703A2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FC7BC"/>
                </a:solidFill>
              </a:defRPr>
            </a:pPr>
            <a:r>
              <a:rPr sz="975" b="0">
                <a:solidFill>
                  <a:srgbClr val="CFC7BC"/>
                </a:solidFill>
              </a:rPr>
              <a:t>摄影页的核心不是漂亮，而是让客户相信这个场景真的会发生。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9CA63-8427-44E9-AFE3-69C4E127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123950"/>
            <a:ext cx="2476500" cy="4286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4EF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2612EA-EABA-4C77-A61A-3653C869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24050"/>
            <a:ext cx="1905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8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133D05-D7FC-49FD-B1F8-436A0A74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2405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8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1884F9-FF8A-458E-9F28-591ED686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2882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E4B86B"/>
                </a:solidFill>
              </a:defRPr>
            </a:pPr>
            <a:r>
              <a:rPr sz="750" b="1">
                <a:solidFill>
                  <a:srgbClr val="E4B86B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C0D1C5-0D87-4570-8959-BEEEF9C6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193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客户问题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9A5A3A-009E-43EE-8621-C02ECF19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028825"/>
            <a:ext cx="-19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B6B6B"/>
                </a:solidFill>
              </a:defRPr>
            </a:pPr>
            <a:r>
              <a:rPr sz="750" b="0">
                <a:solidFill>
                  <a:srgbClr val="6B6B6B"/>
                </a:solidFill>
              </a:rPr>
              <a:t>one verifiable commitment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9DF30B-4640-43A9-BC26-9F038D28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19350"/>
            <a:ext cx="1905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8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4A470A-CE1C-4530-A2B2-A785FDD6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1935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1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213D41-2197-45DE-91F1-6BA7F58B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2412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A211C"/>
                </a:solidFill>
              </a:defRPr>
            </a:pPr>
            <a:r>
              <a:rPr sz="750" b="1">
                <a:solidFill>
                  <a:srgbClr val="2A211C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35D5B1-50CC-452E-B505-2790DCD4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核心判断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085441-828D-4F88-8A6B-F6C39270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524125"/>
            <a:ext cx="-19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B6B6B"/>
                </a:solidFill>
              </a:defRPr>
            </a:pPr>
            <a:r>
              <a:rPr sz="750" b="0">
                <a:solidFill>
                  <a:srgbClr val="6B6B6B"/>
                </a:solidFill>
              </a:rPr>
              <a:t>one verifiable commitment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7725A3-568B-4438-AACD-2318D22F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14650"/>
            <a:ext cx="1905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8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B1FED4-74A4-42EB-910B-EF2C4129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1465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774E13-2294-4095-9074-7E012684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1942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1111"/>
                </a:solidFill>
              </a:defRPr>
            </a:pPr>
            <a:r>
              <a:rPr sz="750" b="1">
                <a:solidFill>
                  <a:srgbClr val="111111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A753EB-1C94-4CDA-BE9F-4A3DF820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099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执行证据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948354-FDD8-460A-B2D8-4B61FF45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019425"/>
            <a:ext cx="-19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B6B6B"/>
                </a:solidFill>
              </a:defRPr>
            </a:pPr>
            <a:r>
              <a:rPr sz="750" b="0">
                <a:solidFill>
                  <a:srgbClr val="6B6B6B"/>
                </a:solidFill>
              </a:rPr>
              <a:t>one verifiable commitment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D92B1D-2DB4-4986-B676-FF350FDC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09950"/>
            <a:ext cx="1905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8C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D35214-3E92-46EE-AFE6-EE3A026E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0995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83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FE8131-9734-4708-8E5A-9A8F63EC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1472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9C8371"/>
                </a:solidFill>
              </a:defRPr>
            </a:pPr>
            <a:r>
              <a:rPr sz="750" b="1">
                <a:solidFill>
                  <a:srgbClr val="9C8371"/>
                </a:solidFill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88AA7B-8993-460A-AACF-945390CB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052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预算边界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D1743A-E8F8-4344-B4BC-183A6C7A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514725"/>
            <a:ext cx="-19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B6B6B"/>
                </a:solidFill>
              </a:defRPr>
            </a:pPr>
            <a:r>
              <a:rPr sz="750" b="0">
                <a:solidFill>
                  <a:srgbClr val="6B6B6B"/>
                </a:solidFill>
              </a:rPr>
              <a:t>one verifiable commitment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A78AE8-0008-4CC8-93BA-440C7DF8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8A8179"/>
                </a:solidFill>
              </a:defRPr>
            </a:pPr>
            <a:r>
              <a:rPr sz="600" b="0">
                <a:solidFill>
                  <a:srgbClr val="8A8179"/>
                </a:solidFill>
              </a:rPr>
              <a:t>proposal-ppt deep style system demo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6985E9-679C-4D65-93DE-568A7F78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A8179"/>
                </a:solidFill>
              </a:defRPr>
            </a:pPr>
            <a:r>
              <a:rPr sz="675" b="0">
                <a:solidFill>
                  <a:srgbClr val="8A8179"/>
                </a:solidFill>
              </a:rPr>
              <a:t>03B / 34</a:t>
            </a:r>
          </a:p>
        </p:txBody>
      </p:sp>
    </p:spTree>
    <p:extLst>
      <p:ext uri="{BB962C8B-B14F-4D97-AF65-F5344CB8AC3E}">
        <p14:creationId xmlns:p14="http://schemas.microsoft.com/office/powerpoint/2010/main" val="19088434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49045E-0A9A-4F2C-88B2-3E6C879A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2857500" cy="3429000"/>
          </a:xfrm>
          <a:prstGeom xmlns:a="http://schemas.openxmlformats.org/drawingml/2006/main" prst="roundRect">
            <a:avLst>
              <a:gd name="adj" fmla="val 667"/>
            </a:avLst>
          </a:prstGeom>
          <a:solidFill xmlns:a="http://schemas.openxmlformats.org/drawingml/2006/main">
            <a:srgbClr val="3D30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A1E6BE-CDA0-48ED-8AFB-F46EF64E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4B86B"/>
                </a:solidFill>
              </a:defRPr>
            </a:pPr>
            <a:r>
              <a:rPr sz="975" b="1">
                <a:solidFill>
                  <a:srgbClr val="E4B86B"/>
                </a:solidFill>
              </a:rPr>
              <a:t>现场照片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15D41C-96C2-4002-85A4-BE1F30C2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066800"/>
            <a:ext cx="2857500" cy="3429000"/>
          </a:xfrm>
          <a:prstGeom xmlns:a="http://schemas.openxmlformats.org/drawingml/2006/main" prst="roundRect">
            <a:avLst>
              <a:gd name="adj" fmla="val 667"/>
            </a:avLst>
          </a:prstGeom>
          <a:solidFill xmlns:a="http://schemas.openxmlformats.org/drawingml/2006/main">
            <a:srgbClr val="5141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7121A2-C2DC-4183-B458-A49ABE0B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57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4B86B"/>
                </a:solidFill>
              </a:defRPr>
            </a:pPr>
            <a:r>
              <a:rPr sz="975" b="1">
                <a:solidFill>
                  <a:srgbClr val="E4B86B"/>
                </a:solidFill>
              </a:rPr>
              <a:t>产品近景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A5C9B0-D556-48C7-9B3E-700753B4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066800"/>
            <a:ext cx="2857500" cy="3429000"/>
          </a:xfrm>
          <a:prstGeom xmlns:a="http://schemas.openxmlformats.org/drawingml/2006/main" prst="roundRect">
            <a:avLst>
              <a:gd name="adj" fmla="val 667"/>
            </a:avLst>
          </a:prstGeom>
          <a:solidFill xmlns:a="http://schemas.openxmlformats.org/drawingml/2006/main">
            <a:srgbClr val="241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F9DCE9-D034-4CE0-9E95-97BABC2E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57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4B86B"/>
                </a:solidFill>
              </a:defRPr>
            </a:pPr>
            <a:r>
              <a:rPr sz="975" b="1">
                <a:solidFill>
                  <a:srgbClr val="E4B86B"/>
                </a:solidFill>
              </a:rPr>
              <a:t>用户动作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3D9990-CEE1-499A-9182-E802FDD9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9715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D3033C-FFD3-4963-B22E-3D999003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006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A211C"/>
                </a:solidFill>
              </a:defRPr>
            </a:pPr>
            <a:r>
              <a:rPr sz="1275" b="1">
                <a:solidFill>
                  <a:srgbClr val="2A211C"/>
                </a:solidFill>
              </a:rPr>
              <a:t>Proof page: 每张图旁边都要写“这张图证明什么、如何转化成动作”。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4B01F3-7EE3-46DC-ABF5-FB2F7774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8A8179"/>
                </a:solidFill>
              </a:defRPr>
            </a:pPr>
            <a:r>
              <a:rPr sz="600" b="0">
                <a:solidFill>
                  <a:srgbClr val="8A8179"/>
                </a:solidFill>
              </a:rPr>
              <a:t>proposal-ppt deep style system demo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D73987-6713-40B8-90AA-0641EAE2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A8179"/>
                </a:solidFill>
              </a:defRPr>
            </a:pPr>
            <a:r>
              <a:rPr sz="675" b="0">
                <a:solidFill>
                  <a:srgbClr val="8A8179"/>
                </a:solidFill>
              </a:rPr>
              <a:t>03C / 34</a:t>
            </a:r>
          </a:p>
        </p:txBody>
      </p:sp>
    </p:spTree>
    <p:extLst>
      <p:ext uri="{BB962C8B-B14F-4D97-AF65-F5344CB8AC3E}">
        <p14:creationId xmlns:p14="http://schemas.microsoft.com/office/powerpoint/2010/main" val="5454378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845120-89CE-420D-B85F-689D2737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D2235"/>
                </a:solidFill>
              </a:defRPr>
            </a:pPr>
            <a:r>
              <a:rPr sz="900" b="1">
                <a:solidFill>
                  <a:srgbClr val="9D2235"/>
                </a:solidFill>
              </a:rPr>
              <a:t>DNA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5F8E3B-BBF3-4364-8839-68A8AD7E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Fashion Editorial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9702E1-537A-4E36-A349-5B6E5C3C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625C"/>
                </a:solidFill>
              </a:defRPr>
            </a:pPr>
            <a:r>
              <a:rPr sz="1125" b="0">
                <a:solidFill>
                  <a:srgbClr val="6B625C"/>
                </a:solidFill>
              </a:rPr>
              <a:t>高定杂志：高反差 serif、模特/产品大图、标题压图、克制小字。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B8FE6A-454A-40CA-BFAA-E0862EDA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495300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8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B2948D-09C3-48F3-BC6F-1CC540C6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431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Style grammar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5ACA33-D2D0-4BFB-B1B2-0CDD5774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2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C3A72F-571F-43FA-9956-DDBA41DF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051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B625C"/>
                </a:solidFill>
              </a:defRPr>
            </a:pPr>
            <a:r>
              <a:rPr sz="900" b="0">
                <a:solidFill>
                  <a:srgbClr val="6B625C"/>
                </a:solidFill>
              </a:rPr>
              <a:t>大图和标题共同构成版面中心。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35919-0C0E-45B6-B449-BE9E0BD1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19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2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E4A105-F587-4394-AA80-B566F110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B625C"/>
                </a:solidFill>
              </a:defRPr>
            </a:pPr>
            <a:r>
              <a:rPr sz="900" b="0">
                <a:solidFill>
                  <a:srgbClr val="6B625C"/>
                </a:solidFill>
              </a:rPr>
              <a:t>使用高反差 serif 模拟时尚杂志气质。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52D086-D34D-43A5-9A3E-94CA2F67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576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2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E785B1-E729-4760-9C4B-F5C9B34D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814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B625C"/>
                </a:solidFill>
              </a:defRPr>
            </a:pPr>
            <a:r>
              <a:rPr sz="900" b="0">
                <a:solidFill>
                  <a:srgbClr val="6B625C"/>
                </a:solidFill>
              </a:rPr>
              <a:t>留白要大，文字要少而像编辑标题。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4BE39D-8BBD-471E-A0A6-8AEDC100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2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6A0C8B-77AF-49A5-988F-1DBA6EFE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195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B625C"/>
                </a:solidFill>
              </a:defRPr>
            </a:pPr>
            <a:r>
              <a:rPr sz="900" b="0">
                <a:solidFill>
                  <a:srgbClr val="6B625C"/>
                </a:solidFill>
              </a:rPr>
              <a:t>证据页用图注、编号和专题分栏。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218400-7F1D-4D06-961F-A0ED78FD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23812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9D2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63A016-640A-4905-8758-F4F1AD1E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241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Use for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93F15B-0A20-4D4F-8755-725E1589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05100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时尚 / 美妆 / 高端消费 / 酒旅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A56596-3F49-4FD5-8B34-AD877566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67150"/>
            <a:ext cx="23812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DDD8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A05FD9-1A81-4284-A10D-B91F5745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148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D2235"/>
                </a:solidFill>
              </a:defRPr>
            </a:pPr>
            <a:r>
              <a:rPr sz="975" b="1">
                <a:solidFill>
                  <a:srgbClr val="9D2235"/>
                </a:solidFill>
              </a:rPr>
              <a:t>Avoid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D69D55-D7E6-4A0C-8158-17445138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5770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625C"/>
                </a:solidFill>
              </a:defRPr>
            </a:pPr>
            <a:r>
              <a:rPr sz="975" b="0">
                <a:solidFill>
                  <a:srgbClr val="6B625C"/>
                </a:solidFill>
              </a:rPr>
              <a:t>不要把它做成普通卡片网格。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4DDA2F-D69E-496F-B849-B544824B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14500"/>
            <a:ext cx="2190750" cy="4000500"/>
          </a:xfrm>
          <a:prstGeom xmlns:a="http://schemas.openxmlformats.org/drawingml/2006/main" prst="roundRect">
            <a:avLst>
              <a:gd name="adj" fmla="val 87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EC99E7-DFC0-4340-BBB5-8BF2DE4A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95500"/>
            <a:ext cx="15811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9D2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0505F2-54D4-4BD5-8051-BEE7AE5F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290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6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342364-72E4-43F6-A9A9-47867248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719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6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F27038-4186-4D48-965B-FE3EE4A3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1480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62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CDF216-09EF-453B-8390-4359533F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8A7D73"/>
                </a:solidFill>
              </a:defRPr>
            </a:pPr>
            <a:r>
              <a:rPr sz="600" b="0">
                <a:solidFill>
                  <a:srgbClr val="8A7D73"/>
                </a:solidFill>
              </a:rPr>
              <a:t>proposal-ppt deep style system demo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B81302-15E7-43FA-BF3A-4349CDF0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A7D73"/>
                </a:solidFill>
              </a:defRPr>
            </a:pPr>
            <a:r>
              <a:rPr sz="675" b="0">
                <a:solidFill>
                  <a:srgbClr val="8A7D73"/>
                </a:solidFill>
              </a:rPr>
              <a:t>04A / 34</a:t>
            </a:r>
          </a:p>
        </p:txBody>
      </p:sp>
    </p:spTree>
    <p:extLst>
      <p:ext uri="{BB962C8B-B14F-4D97-AF65-F5344CB8AC3E}">
        <p14:creationId xmlns:p14="http://schemas.microsoft.com/office/powerpoint/2010/main" val="7413311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282EDD-F1BD-436E-9BAF-1936A598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150" b="1">
                <a:solidFill>
                  <a:srgbClr val="111111"/>
                </a:solidFill>
              </a:defRPr>
            </a:pPr>
            <a:r>
              <a:rPr sz="6150" b="1">
                <a:solidFill>
                  <a:srgbClr val="111111"/>
                </a:solidFill>
              </a:rPr>
              <a:t>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970FE9-2485-497F-9740-8339D16B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33500"/>
            <a:ext cx="40005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0C293-5FD6-4188-BF64-C3FE3A75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05000"/>
            <a:ext cx="285750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C2C741-072A-41EE-A6A5-AFDB1D07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9D2235"/>
                </a:solidFill>
              </a:defRPr>
            </a:pPr>
            <a:r>
              <a:rPr sz="2175" b="1">
                <a:solidFill>
                  <a:srgbClr val="9D2235"/>
                </a:solidFill>
              </a:rPr>
              <a:t>The shape of desire must become a measurable plan.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1CA9DB-1085-4888-96DB-F8F332F0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19300"/>
            <a:ext cx="2190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625C"/>
                </a:solidFill>
              </a:defRPr>
            </a:pPr>
            <a:r>
              <a:rPr sz="1125" b="0">
                <a:solidFill>
                  <a:srgbClr val="6B625C"/>
                </a:solidFill>
              </a:rPr>
              <a:t>高端提案不是“贵”，而是每个版面都有选择、有距离、有节奏。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EC4B6-7766-4A1D-815E-AE772D0E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8A7D73"/>
                </a:solidFill>
              </a:defRPr>
            </a:pPr>
            <a:r>
              <a:rPr sz="600" b="0">
                <a:solidFill>
                  <a:srgbClr val="8A7D73"/>
                </a:solidFill>
              </a:rPr>
              <a:t>proposal-ppt deep style system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7C7977-D74D-46E1-8B90-9B47EFED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A7D73"/>
                </a:solidFill>
              </a:defRPr>
            </a:pPr>
            <a:r>
              <a:rPr sz="675" b="0">
                <a:solidFill>
                  <a:srgbClr val="8A7D73"/>
                </a:solidFill>
              </a:rPr>
              <a:t>04B / 34</a:t>
            </a:r>
          </a:p>
        </p:txBody>
      </p:sp>
    </p:spTree>
    <p:extLst>
      <p:ext uri="{BB962C8B-B14F-4D97-AF65-F5344CB8AC3E}">
        <p14:creationId xmlns:p14="http://schemas.microsoft.com/office/powerpoint/2010/main" val="4256310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BE4AA0-9C0D-4453-B874-4AD3F8FD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EDITED 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30539-DDD5-4BDB-9B72-C3ACC0FC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33500"/>
            <a:ext cx="2857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A0EC0D-D88F-4C70-AAD3-3804B5BF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33500"/>
            <a:ext cx="2857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2D6"/>
          </a:solidFill>
          <a:ln xmlns:a="http://schemas.openxmlformats.org/drawingml/2006/main" w="9525">
            <a:solidFill>
              <a:srgbClr val="D8CAB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73D043-57E2-4521-9258-9754E2BC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333500"/>
            <a:ext cx="2857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9A717A-08F0-4CD0-BA69-CFE9A9CB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D2235"/>
                </a:solidFill>
              </a:defRPr>
            </a:pPr>
            <a:r>
              <a:rPr sz="900" b="1">
                <a:solidFill>
                  <a:srgbClr val="9D2235"/>
                </a:solidFill>
              </a:rPr>
              <a:t>LOOK 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0C53EA-F140-423F-B41F-0B02DF1B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3340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SCENE 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51B896-6134-41D5-9F22-EF2CF2C6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3340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PROOF 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F326A-3482-49CE-BF74-5E12D5B7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625C"/>
                </a:solidFill>
              </a:defRPr>
            </a:pPr>
            <a:r>
              <a:rPr sz="1125" b="0">
                <a:solidFill>
                  <a:srgbClr val="6B625C"/>
                </a:solidFill>
              </a:rPr>
              <a:t>三张视觉证据形成一组编辑专题：审美判断 / 场景证明 / 执行动作。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B40394-1274-42C0-94D1-17EEF5A8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8A7D73"/>
                </a:solidFill>
              </a:defRPr>
            </a:pPr>
            <a:r>
              <a:rPr sz="600" b="0">
                <a:solidFill>
                  <a:srgbClr val="8A7D73"/>
                </a:solidFill>
              </a:rPr>
              <a:t>proposal-ppt deep style system demo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5E0BB3-0DC6-4FEB-A455-8584A19E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A7D73"/>
                </a:solidFill>
              </a:defRPr>
            </a:pPr>
            <a:r>
              <a:rPr sz="675" b="0">
                <a:solidFill>
                  <a:srgbClr val="8A7D73"/>
                </a:solidFill>
              </a:rPr>
              <a:t>04C / 34</a:t>
            </a:r>
          </a:p>
        </p:txBody>
      </p:sp>
    </p:spTree>
    <p:extLst>
      <p:ext uri="{BB962C8B-B14F-4D97-AF65-F5344CB8AC3E}">
        <p14:creationId xmlns:p14="http://schemas.microsoft.com/office/powerpoint/2010/main" val="4698724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D85FA9-D3AE-4F95-88C5-B0A94796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6A6B8"/>
                </a:solidFill>
              </a:defRPr>
            </a:pPr>
            <a:r>
              <a:rPr sz="900" b="1">
                <a:solidFill>
                  <a:srgbClr val="E6A6B8"/>
                </a:solidFill>
              </a:rPr>
              <a:t>DNA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C7F5FF-A65C-4343-8BE1-04879267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5B2B3A"/>
                </a:solidFill>
              </a:defRPr>
            </a:pPr>
            <a:r>
              <a:rPr sz="2850" b="1">
                <a:solidFill>
                  <a:srgbClr val="5B2B3A"/>
                </a:solidFill>
              </a:rPr>
              <a:t>Beauty Gloss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17B0CC-E966-49CC-B46D-433DD7EB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05C68"/>
                </a:solidFill>
              </a:defRPr>
            </a:pPr>
            <a:r>
              <a:rPr sz="1125" b="0">
                <a:solidFill>
                  <a:srgbClr val="805C68"/>
                </a:solidFill>
              </a:rPr>
              <a:t>美妆光泽：柔和底色、产品瓶身、成分/功效证据、细腻高光。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9975F-E89A-45D3-A69D-55C13822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495300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8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A309EC-B3F3-4D35-A4CB-18AEF48D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431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2B3A"/>
                </a:solidFill>
              </a:defRPr>
            </a:pPr>
            <a:r>
              <a:rPr sz="1200" b="1">
                <a:solidFill>
                  <a:srgbClr val="5B2B3A"/>
                </a:solidFill>
              </a:rPr>
              <a:t>Style grammar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01B9C0-C92D-4F47-8C69-3B422D43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DFA7A5-D791-46D1-9B7D-90BC326D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051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05C68"/>
                </a:solidFill>
              </a:defRPr>
            </a:pPr>
            <a:r>
              <a:rPr sz="900" b="0">
                <a:solidFill>
                  <a:srgbClr val="805C68"/>
                </a:solidFill>
              </a:rPr>
              <a:t>产品容器或成分视觉是主角。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B3F430-474A-46BE-993C-F5AF3AD4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19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F40801-3677-4D3B-9E06-1B638D57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05C68"/>
                </a:solidFill>
              </a:defRPr>
            </a:pPr>
            <a:r>
              <a:rPr sz="900" b="0">
                <a:solidFill>
                  <a:srgbClr val="805C68"/>
                </a:solidFill>
              </a:rPr>
              <a:t>使用柔和粉、酒红、奶白，不要糖果化。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45FCE7-3213-41BB-864B-8B294A27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576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C6905B-5C51-4712-A33D-EF556CC0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814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05C68"/>
                </a:solidFill>
              </a:defRPr>
            </a:pPr>
            <a:r>
              <a:rPr sz="900" b="0">
                <a:solidFill>
                  <a:srgbClr val="805C68"/>
                </a:solidFill>
              </a:rPr>
              <a:t>证据页要放成分、体验、前后对照、达人样张。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7F3509-69FF-42E9-89B1-6B124160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9E33B5-50C0-4C2D-AD86-E1970C7A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195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05C68"/>
                </a:solidFill>
              </a:defRPr>
            </a:pPr>
            <a:r>
              <a:rPr sz="900" b="0">
                <a:solidFill>
                  <a:srgbClr val="805C68"/>
                </a:solidFill>
              </a:rPr>
              <a:t>圆角和高光可以柔，但文字边界要硬。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31FED4-CE4A-4E2B-B3A1-278C6A1A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23812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6A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7D8BAE-FD9A-410D-B413-A6ED1131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241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Use for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CE960D-3F60-4922-8DAA-1C41A0B7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05100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美妆 / 护肤 / 精致生活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9F71BA-914E-4B8D-9EC3-5B6E0F4C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67150"/>
            <a:ext cx="23812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DDD8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E28265-D02A-4DAB-AD8D-E63DED24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148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6A6B8"/>
                </a:solidFill>
              </a:defRPr>
            </a:pPr>
            <a:r>
              <a:rPr sz="975" b="1">
                <a:solidFill>
                  <a:srgbClr val="E6A6B8"/>
                </a:solidFill>
              </a:rPr>
              <a:t>Avoid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050661-5DAB-441B-9DF4-ADA5C8E9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5770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805C68"/>
                </a:solidFill>
              </a:defRPr>
            </a:pPr>
            <a:r>
              <a:rPr sz="975" b="0">
                <a:solidFill>
                  <a:srgbClr val="805C68"/>
                </a:solidFill>
              </a:rPr>
              <a:t>避免大面积卡通粉和廉价渐变。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39F9FE-D87B-4B11-8F01-4B0BC0E5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14500"/>
            <a:ext cx="2190750" cy="4000500"/>
          </a:xfrm>
          <a:prstGeom xmlns:a="http://schemas.openxmlformats.org/drawingml/2006/main" prst="roundRect">
            <a:avLst>
              <a:gd name="adj" fmla="val 870"/>
            </a:avLst>
          </a:prstGeom>
          <a:solidFill xmlns:a="http://schemas.openxmlformats.org/drawingml/2006/main">
            <a:srgbClr val="5B2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1205CC-748A-4EB6-B6D8-3DC9F445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95500"/>
            <a:ext cx="15811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A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D8D533-00AE-4E47-A97F-D6CA192C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290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5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F1FD6B-3479-41FD-8109-117E245B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719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5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1F530B-676C-4A49-B3A8-9288A565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1480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5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B75DD8-7F54-4263-A100-01AD3B2C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9B7A83"/>
                </a:solidFill>
              </a:defRPr>
            </a:pPr>
            <a:r>
              <a:rPr sz="600" b="0">
                <a:solidFill>
                  <a:srgbClr val="9B7A83"/>
                </a:solidFill>
              </a:rPr>
              <a:t>proposal-ppt deep style system demo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4A3FB8-4003-495C-BA6B-64291524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B7A83"/>
                </a:solidFill>
              </a:defRPr>
            </a:pPr>
            <a:r>
              <a:rPr sz="675" b="0">
                <a:solidFill>
                  <a:srgbClr val="9B7A83"/>
                </a:solidFill>
              </a:rPr>
              <a:t>05A / 34</a:t>
            </a:r>
          </a:p>
        </p:txBody>
      </p:sp>
    </p:spTree>
    <p:extLst>
      <p:ext uri="{BB962C8B-B14F-4D97-AF65-F5344CB8AC3E}">
        <p14:creationId xmlns:p14="http://schemas.microsoft.com/office/powerpoint/2010/main" val="98980518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AE68D2-ABA0-4640-8FDE-C615BA5F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-857250"/>
            <a:ext cx="5334000" cy="533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D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7E6A68-3E24-446F-8D2F-CCA5D744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66850"/>
            <a:ext cx="2000250" cy="409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C8D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23ED79-124D-4E5A-848F-A15BCBBC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00250"/>
            <a:ext cx="1085850" cy="304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A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802AFA-65C8-4337-B436-E4F6C6F8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15B74"/>
                </a:solidFill>
              </a:defRPr>
            </a:pPr>
            <a:r>
              <a:rPr sz="975" b="1">
                <a:solidFill>
                  <a:srgbClr val="B15B74"/>
                </a:solidFill>
              </a:rPr>
              <a:t>Beauty Gloss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AC01BD-7DDA-475C-AB0A-6BCD42DF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542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5B2B3A"/>
                </a:solidFill>
              </a:defRPr>
            </a:pPr>
            <a:r>
              <a:rPr sz="2850" b="1">
                <a:solidFill>
                  <a:srgbClr val="5B2B3A"/>
                </a:solidFill>
              </a:rPr>
              <a:t>把精致感落到功效证据，而不是停留在氛围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102DD-211A-4466-BD27-F6058F87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05C68"/>
                </a:solidFill>
              </a:defRPr>
            </a:pPr>
            <a:r>
              <a:rPr sz="1125" b="0">
                <a:solidFill>
                  <a:srgbClr val="805C68"/>
                </a:solidFill>
              </a:rPr>
              <a:t>美妆类提案要同时证明审美、手感、成分逻辑和转化路径。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056AA4-5A41-4687-938D-BD382A5E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4953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8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C333A1-613A-482D-98D4-68CF8D1F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5B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F9DF18-A439-43F3-89FD-7F3234C4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9092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B15B74"/>
                </a:solidFill>
              </a:defRPr>
            </a:pPr>
            <a:r>
              <a:rPr sz="750" b="1">
                <a:solidFill>
                  <a:srgbClr val="B15B74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CFFE8B-4904-4CF6-B666-1900F107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814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客户问题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C84CCF-0F14-43BA-9F64-E90B856C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90925"/>
            <a:ext cx="3028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B6B6B"/>
                </a:solidFill>
              </a:defRPr>
            </a:pPr>
            <a:r>
              <a:rPr sz="750" b="0">
                <a:solidFill>
                  <a:srgbClr val="6B6B6B"/>
                </a:solidFill>
              </a:rPr>
              <a:t>one verifiable commitment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E9BA05-7384-43CD-89A9-90974E07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4953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8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CABC1-8E07-47E1-8256-EEE31B30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419297-48B3-40A2-A13A-33BD1254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8622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E6A6B8"/>
                </a:solidFill>
              </a:defRPr>
            </a:pPr>
            <a:r>
              <a:rPr sz="750" b="1">
                <a:solidFill>
                  <a:srgbClr val="E6A6B8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E6B474-ED91-4485-8E48-672C0BF3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767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核心判断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F8C658-D4CA-41E0-82AC-8A0DD070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86225"/>
            <a:ext cx="3028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B6B6B"/>
                </a:solidFill>
              </a:defRPr>
            </a:pPr>
            <a:r>
              <a:rPr sz="750" b="0">
                <a:solidFill>
                  <a:srgbClr val="6B6B6B"/>
                </a:solidFill>
              </a:rPr>
              <a:t>one verifiable commitment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E18E60-CABA-4EDF-BDAF-A0E523A8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953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8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26325E-186F-468A-A656-17CAAC59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2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A3DFA6-71D3-41F9-9E69-751914EF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8152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B2B3A"/>
                </a:solidFill>
              </a:defRPr>
            </a:pPr>
            <a:r>
              <a:rPr sz="750" b="1">
                <a:solidFill>
                  <a:srgbClr val="5B2B3A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B5BF6A-1D57-470C-9DC9-82E4CE91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720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执行证据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00F199-F949-42BA-9E07-AA899A93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81525"/>
            <a:ext cx="3028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B6B6B"/>
                </a:solidFill>
              </a:defRPr>
            </a:pPr>
            <a:r>
              <a:rPr sz="750" b="0">
                <a:solidFill>
                  <a:srgbClr val="6B6B6B"/>
                </a:solidFill>
              </a:rPr>
              <a:t>one verifiable commitment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370005-3FB6-473D-BE9C-5EC91BAC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4953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8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FD986F-A7F9-424E-A46E-2366B0BB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6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643529-977B-4604-A427-3FCDD043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7682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86652"/>
                </a:solidFill>
              </a:defRPr>
            </a:pPr>
            <a:r>
              <a:rPr sz="750" b="1">
                <a:solidFill>
                  <a:srgbClr val="C86652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FB5802-1ADA-495D-B57D-0F19F5E8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673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预算边界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65649E-A86B-4523-9CFF-C641A0A9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76825"/>
            <a:ext cx="3028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B6B6B"/>
                </a:solidFill>
              </a:defRPr>
            </a:pPr>
            <a:r>
              <a:rPr sz="750" b="0">
                <a:solidFill>
                  <a:srgbClr val="6B6B6B"/>
                </a:solidFill>
              </a:rPr>
              <a:t>one verifiable commitment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126E0E-6057-4328-9C8A-42F4A06A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9B7A83"/>
                </a:solidFill>
              </a:defRPr>
            </a:pPr>
            <a:r>
              <a:rPr sz="600" b="0">
                <a:solidFill>
                  <a:srgbClr val="9B7A83"/>
                </a:solidFill>
              </a:rPr>
              <a:t>proposal-ppt deep style system demo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B451AE-FDB5-4E92-8CFB-9715CD28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B7A83"/>
                </a:solidFill>
              </a:defRPr>
            </a:pPr>
            <a:r>
              <a:rPr sz="675" b="0">
                <a:solidFill>
                  <a:srgbClr val="9B7A83"/>
                </a:solidFill>
              </a:rPr>
              <a:t>05B / 34</a:t>
            </a:r>
          </a:p>
        </p:txBody>
      </p:sp>
    </p:spTree>
    <p:extLst>
      <p:ext uri="{BB962C8B-B14F-4D97-AF65-F5344CB8AC3E}">
        <p14:creationId xmlns:p14="http://schemas.microsoft.com/office/powerpoint/2010/main" val="183692610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34EC75-BE27-499C-9663-B4BD5A07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5B2B3A"/>
                </a:solidFill>
              </a:defRPr>
            </a:pPr>
            <a:r>
              <a:rPr sz="1950" b="1">
                <a:solidFill>
                  <a:srgbClr val="5B2B3A"/>
                </a:solidFill>
              </a:rPr>
              <a:t>Ingredient proof 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7F921-621A-4603-ADCA-4630740C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2266950" cy="31432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C8D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E9D33-233C-4F34-849F-FE0391FE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6215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4CE9D0-B5B4-46C3-A48B-09221D00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86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2B3A"/>
                </a:solidFill>
              </a:defRPr>
            </a:pPr>
            <a:r>
              <a:rPr sz="1500" b="1">
                <a:solidFill>
                  <a:srgbClr val="5B2B3A"/>
                </a:solidFill>
              </a:rPr>
              <a:t>成分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A545F-A09B-472C-8598-F20A9B68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243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805C68"/>
                </a:solidFill>
              </a:defRPr>
            </a:pPr>
            <a:r>
              <a:rPr sz="825" b="0">
                <a:solidFill>
                  <a:srgbClr val="805C68"/>
                </a:solidFill>
              </a:rPr>
              <a:t>evidence / 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E782ED-ABBA-4662-8143-6E007266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524000"/>
            <a:ext cx="2266950" cy="31432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3D8DF"/>
          </a:solidFill>
          <a:ln xmlns:a="http://schemas.openxmlformats.org/drawingml/2006/main" w="9525">
            <a:solidFill>
              <a:srgbClr val="F0C8D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7E8605-6D7E-4805-93B0-28FC868A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96215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D92F12-7069-4F9C-979C-FE5334C0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86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2B3A"/>
                </a:solidFill>
              </a:defRPr>
            </a:pPr>
            <a:r>
              <a:rPr sz="1500" b="1">
                <a:solidFill>
                  <a:srgbClr val="5B2B3A"/>
                </a:solidFill>
              </a:rPr>
              <a:t>肤感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4A4A51-0AE6-4CC0-A3C7-04196949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9243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805C68"/>
                </a:solidFill>
              </a:defRPr>
            </a:pPr>
            <a:r>
              <a:rPr sz="825" b="0">
                <a:solidFill>
                  <a:srgbClr val="805C68"/>
                </a:solidFill>
              </a:rPr>
              <a:t>evidence / 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2E9A81-A979-46C5-8BCA-68FBE1BC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524000"/>
            <a:ext cx="2266950" cy="31432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C8D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A6E0CC-A90F-4E60-8662-2E7EF261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6215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052EC5-02C5-4BBA-B8EB-FB93C3AA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86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2B3A"/>
                </a:solidFill>
              </a:defRPr>
            </a:pPr>
            <a:r>
              <a:rPr sz="1500" b="1">
                <a:solidFill>
                  <a:srgbClr val="5B2B3A"/>
                </a:solidFill>
              </a:rPr>
              <a:t>口碑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FEB7A6-232D-4100-9783-31406D0D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805C68"/>
                </a:solidFill>
              </a:defRPr>
            </a:pPr>
            <a:r>
              <a:rPr sz="825" b="0">
                <a:solidFill>
                  <a:srgbClr val="805C68"/>
                </a:solidFill>
              </a:rPr>
              <a:t>evidence / 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18CF6A-539C-4140-A308-F2712E48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524000"/>
            <a:ext cx="2266950" cy="31432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E6A6B8"/>
          </a:solidFill>
          <a:ln xmlns:a="http://schemas.openxmlformats.org/drawingml/2006/main" w="9525">
            <a:solidFill>
              <a:srgbClr val="F0C8D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401FA0-3AC2-44CC-B879-01B8FCDC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96215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4BC788-24C3-47BC-AD13-E9F1A927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86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2B3A"/>
                </a:solidFill>
              </a:defRPr>
            </a:pPr>
            <a:r>
              <a:rPr sz="1500" b="1">
                <a:solidFill>
                  <a:srgbClr val="5B2B3A"/>
                </a:solidFill>
              </a:rPr>
              <a:t>转化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A1C702-9FAD-4E85-BFBD-7FD2AB33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243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805C68"/>
                </a:solidFill>
              </a:defRPr>
            </a:pPr>
            <a:r>
              <a:rPr sz="825" b="0">
                <a:solidFill>
                  <a:srgbClr val="805C68"/>
                </a:solidFill>
              </a:rPr>
              <a:t>evidence / 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1E06D5-3114-4FE7-A82A-8009B112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9B7A83"/>
                </a:solidFill>
              </a:defRPr>
            </a:pPr>
            <a:r>
              <a:rPr sz="600" b="0">
                <a:solidFill>
                  <a:srgbClr val="9B7A83"/>
                </a:solidFill>
              </a:rPr>
              <a:t>proposal-ppt deep style system demo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1D789E-0C34-4AA6-AD16-FAED7BE7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B7A83"/>
                </a:solidFill>
              </a:defRPr>
            </a:pPr>
            <a:r>
              <a:rPr sz="675" b="0">
                <a:solidFill>
                  <a:srgbClr val="9B7A83"/>
                </a:solidFill>
              </a:rPr>
              <a:t>05C / 34</a:t>
            </a:r>
          </a:p>
        </p:txBody>
      </p:sp>
    </p:spTree>
    <p:extLst>
      <p:ext uri="{BB962C8B-B14F-4D97-AF65-F5344CB8AC3E}">
        <p14:creationId xmlns:p14="http://schemas.microsoft.com/office/powerpoint/2010/main" val="10592550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341D8D-E549-4547-B3B5-543173D5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422E"/>
                </a:solidFill>
              </a:defRPr>
            </a:pPr>
            <a:r>
              <a:rPr sz="900" b="1">
                <a:solidFill>
                  <a:srgbClr val="B9422E"/>
                </a:solidFill>
              </a:rPr>
              <a:t>DNA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FA8F4F-6621-4E3B-A1F1-CE96DF82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Japanese Minimal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B66846-1B2D-41B5-8FB5-448BD605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7615A"/>
                </a:solidFill>
              </a:defRPr>
            </a:pPr>
            <a:r>
              <a:rPr sz="1125" b="0">
                <a:solidFill>
                  <a:srgbClr val="67615A"/>
                </a:solidFill>
              </a:rPr>
              <a:t>日式极简：留白不是空，是让一句判断有重量。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58F402-377F-4793-B2B4-D940289C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495300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8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8874E-BB01-4065-85F4-DEE89C8D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431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Style grammar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1B68E4-C0FC-418D-8F59-13CE7EB2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557204-17E0-4DB4-80EA-5D22C0AA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051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7615A"/>
                </a:solidFill>
              </a:defRPr>
            </a:pPr>
            <a:r>
              <a:rPr sz="900" b="0">
                <a:solidFill>
                  <a:srgbClr val="67615A"/>
                </a:solidFill>
              </a:rPr>
              <a:t>大面积留白，主体偏离中心但保持均衡。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84D41-84C3-4726-AF9B-8B2D14DE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19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5E8BFD-07CC-48CC-B7A8-9E5D7FC1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7615A"/>
                </a:solidFill>
              </a:defRPr>
            </a:pPr>
            <a:r>
              <a:rPr sz="900" b="0">
                <a:solidFill>
                  <a:srgbClr val="67615A"/>
                </a:solidFill>
              </a:rPr>
              <a:t>小字、细线、红印形成节制的仪式感。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E381C6-211A-47C0-A60E-FEE5DF6D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576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037A9E-536B-4A32-AFE0-0E26570D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814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7615A"/>
                </a:solidFill>
              </a:defRPr>
            </a:pPr>
            <a:r>
              <a:rPr sz="900" b="0">
                <a:solidFill>
                  <a:srgbClr val="67615A"/>
                </a:solidFill>
              </a:rPr>
              <a:t>一页只讲一句话或一个转折。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3C1960-AD60-443F-8FA2-EFAF7883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83DAC7-F419-4D76-AFC1-C5B98EA3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195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7615A"/>
                </a:solidFill>
              </a:defRPr>
            </a:pPr>
            <a:r>
              <a:rPr sz="900" b="0">
                <a:solidFill>
                  <a:srgbClr val="67615A"/>
                </a:solidFill>
              </a:rPr>
              <a:t>适合章节页、结论页、策略转折页。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589EE8-7995-4B83-8A70-33091DB7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23812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B94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4397CB-5B5B-45DD-880D-6D35C217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241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Use for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02C668-EABF-410B-80A2-65B415EB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05100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高端生活 / 文化 / 克制策略页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1C16F6-E03F-4309-A0C4-4E330224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67150"/>
            <a:ext cx="23812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DDD8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4AAD81-25CF-40D2-B12B-FFF42C7C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148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422E"/>
                </a:solidFill>
              </a:defRPr>
            </a:pPr>
            <a:r>
              <a:rPr sz="975" b="1">
                <a:solidFill>
                  <a:srgbClr val="B9422E"/>
                </a:solidFill>
              </a:rPr>
              <a:t>Avoid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584868-5C9D-4C45-856A-C5828A76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5770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7615A"/>
                </a:solidFill>
              </a:defRPr>
            </a:pPr>
            <a:r>
              <a:rPr sz="975" b="0">
                <a:solidFill>
                  <a:srgbClr val="67615A"/>
                </a:solidFill>
              </a:rPr>
              <a:t>不要把所有执行细节塞进极简页。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7AFF0D-F019-4E94-8EE6-7EB1F851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14500"/>
            <a:ext cx="2190750" cy="4000500"/>
          </a:xfrm>
          <a:prstGeom xmlns:a="http://schemas.openxmlformats.org/drawingml/2006/main" prst="roundRect">
            <a:avLst>
              <a:gd name="adj" fmla="val 87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B88E07-6BE6-4359-8159-CAF045E6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95500"/>
            <a:ext cx="15811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B94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E30CC1-F465-49B4-A4D3-A1AA5AC9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290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6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B30C7B-8A01-4A10-B5C1-6F40AFB4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719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6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0A015B-7F85-401D-B9B2-DD843AAF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1480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6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4EA6A9-2D02-45B2-889F-9895464C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9A938C"/>
                </a:solidFill>
              </a:defRPr>
            </a:pPr>
            <a:r>
              <a:rPr sz="600" b="0">
                <a:solidFill>
                  <a:srgbClr val="9A938C"/>
                </a:solidFill>
              </a:rPr>
              <a:t>proposal-ppt deep style system demo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C0DE36-51A5-45F4-9CD1-2E68BDB2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A938C"/>
                </a:solidFill>
              </a:defRPr>
            </a:pPr>
            <a:r>
              <a:rPr sz="675" b="0">
                <a:solidFill>
                  <a:srgbClr val="9A938C"/>
                </a:solidFill>
              </a:rPr>
              <a:t>06A / 34</a:t>
            </a:r>
          </a:p>
        </p:txBody>
      </p:sp>
    </p:spTree>
    <p:extLst>
      <p:ext uri="{BB962C8B-B14F-4D97-AF65-F5344CB8AC3E}">
        <p14:creationId xmlns:p14="http://schemas.microsoft.com/office/powerpoint/2010/main" val="144345542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2C470D-A268-483D-8B5F-87006CAE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123950"/>
            <a:ext cx="952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CDC8DA-CCD3-4355-BCD5-DABB27B9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287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F865A-30AE-4DAC-AEBF-B0CB3D8C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7145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少即是判断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C88240-377E-414A-A3DC-CDACD627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7241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7615A"/>
                </a:solidFill>
              </a:defRPr>
            </a:pPr>
            <a:r>
              <a:rPr sz="1200" b="0">
                <a:solidFill>
                  <a:srgbClr val="67615A"/>
                </a:solidFill>
              </a:rPr>
              <a:t>这一页只保留客户必须记住的一句话。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34EB5D-CA9A-48EE-AA8D-C7579D2C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6863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B9422E"/>
                </a:solidFill>
              </a:defRPr>
            </a:pPr>
            <a:r>
              <a:rPr sz="750" b="0">
                <a:solidFill>
                  <a:srgbClr val="B9422E"/>
                </a:solidFill>
              </a:rPr>
              <a:t>Chapter / Shift / Promise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9AF8E5-2760-4DEE-8738-CFB9627A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9A938C"/>
                </a:solidFill>
              </a:defRPr>
            </a:pPr>
            <a:r>
              <a:rPr sz="600" b="0">
                <a:solidFill>
                  <a:srgbClr val="9A938C"/>
                </a:solidFill>
              </a:rPr>
              <a:t>proposal-ppt deep style system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B435F-B562-47E9-B003-D482B012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A938C"/>
                </a:solidFill>
              </a:defRPr>
            </a:pPr>
            <a:r>
              <a:rPr sz="675" b="0">
                <a:solidFill>
                  <a:srgbClr val="9A938C"/>
                </a:solidFill>
              </a:rPr>
              <a:t>06B / 34</a:t>
            </a:r>
          </a:p>
        </p:txBody>
      </p:sp>
    </p:spTree>
    <p:extLst>
      <p:ext uri="{BB962C8B-B14F-4D97-AF65-F5344CB8AC3E}">
        <p14:creationId xmlns:p14="http://schemas.microsoft.com/office/powerpoint/2010/main" val="114529033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1628A9-115D-46AA-B7ED-9A4433DE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422E"/>
                </a:solidFill>
              </a:defRPr>
            </a:pPr>
            <a:r>
              <a:rPr sz="975" b="1">
                <a:solidFill>
                  <a:srgbClr val="B9422E"/>
                </a:solidFill>
              </a:rPr>
              <a:t>Proof, but quiet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9B7ACB-89C0-43B2-A490-EE1D6A72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BF3E06-C8F2-4B58-AB52-D84E1FE6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762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8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32D94C-DF49-4A32-9CFE-D7F91B37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159EA4-5D83-4593-8760-3F37D6CC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7647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1111"/>
                </a:solidFill>
              </a:defRPr>
            </a:pPr>
            <a:r>
              <a:rPr sz="750" b="1">
                <a:solidFill>
                  <a:srgbClr val="111111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76A839-5739-4074-B3B9-2EA610F9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669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客户问题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119B07-FA63-4E3D-8228-5ACE631F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76475"/>
            <a:ext cx="2838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B6B6B"/>
                </a:solidFill>
              </a:defRPr>
            </a:pPr>
            <a:r>
              <a:rPr sz="750" b="0">
                <a:solidFill>
                  <a:srgbClr val="6B6B6B"/>
                </a:solidFill>
              </a:rPr>
              <a:t>one verifiable commitment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5C9941-2033-4222-BCDD-B9D1FB7A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762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8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5C6048-092F-4769-92D5-70CECD3C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12D443-0BED-470F-9AF6-1D7AEAA1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7177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B9422E"/>
                </a:solidFill>
              </a:defRPr>
            </a:pPr>
            <a:r>
              <a:rPr sz="750" b="1">
                <a:solidFill>
                  <a:srgbClr val="B9422E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EB9EB3-7552-4484-823E-CAF63947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622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核心判断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3B3B26-1494-4232-AB60-F495CD3A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71775"/>
            <a:ext cx="2838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B6B6B"/>
                </a:solidFill>
              </a:defRPr>
            </a:pPr>
            <a:r>
              <a:rPr sz="750" b="0">
                <a:solidFill>
                  <a:srgbClr val="6B6B6B"/>
                </a:solidFill>
              </a:rPr>
              <a:t>one verifiable commitment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C3A8B2-B216-435E-B692-B54726AB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4762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8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5AFD6E-32EC-4A25-ABE9-E9EA3F51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E0E956-6BBE-44AF-A913-F6ACDB4B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6707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7736B"/>
                </a:solidFill>
              </a:defRPr>
            </a:pPr>
            <a:r>
              <a:rPr sz="750" b="1">
                <a:solidFill>
                  <a:srgbClr val="77736B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25738D-F968-4FB1-BF9B-737286D2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575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执行证据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55A609-EADE-41A1-BE8D-A3060F40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67075"/>
            <a:ext cx="2838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B6B6B"/>
                </a:solidFill>
              </a:defRPr>
            </a:pPr>
            <a:r>
              <a:rPr sz="750" b="0">
                <a:solidFill>
                  <a:srgbClr val="6B6B6B"/>
                </a:solidFill>
              </a:rPr>
              <a:t>one verifiable commitment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B53416-DCA6-4C41-AB3E-27DC95C1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4762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8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5AF1B5-BE4C-41FB-AB8B-A39AB198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2F3FCD-7732-472C-9E7A-22D7EA33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6237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D9D4CA"/>
                </a:solidFill>
              </a:defRPr>
            </a:pPr>
            <a:r>
              <a:rPr sz="750" b="1">
                <a:solidFill>
                  <a:srgbClr val="D9D4CA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3E93EE-ABE8-4D6F-969B-2184D598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528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预算边界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FF6B02-DC92-431A-BBB8-BCCB9272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62375"/>
            <a:ext cx="2838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B6B6B"/>
                </a:solidFill>
              </a:defRPr>
            </a:pPr>
            <a:r>
              <a:rPr sz="750" b="0">
                <a:solidFill>
                  <a:srgbClr val="6B6B6B"/>
                </a:solidFill>
              </a:rPr>
              <a:t>one verifiable commitment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F3FEF9-AC4E-49B9-BAE7-4431A4BC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241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结论放大，证据收敛。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E0BD93-B471-4693-A974-10D2AB84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290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7615A"/>
                </a:solidFill>
              </a:defRPr>
            </a:pPr>
            <a:r>
              <a:rPr sz="1050" b="0">
                <a:solidFill>
                  <a:srgbClr val="67615A"/>
                </a:solidFill>
              </a:rPr>
              <a:t>极简证据页不是少证据，而是只显示可被客户复述的证据。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464C61-9430-4621-8EBA-87D854C2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9A938C"/>
                </a:solidFill>
              </a:defRPr>
            </a:pPr>
            <a:r>
              <a:rPr sz="600" b="0">
                <a:solidFill>
                  <a:srgbClr val="9A938C"/>
                </a:solidFill>
              </a:rPr>
              <a:t>proposal-ppt deep style system demo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DAA5CB-5766-4EB6-917F-3B31C44B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A938C"/>
                </a:solidFill>
              </a:defRPr>
            </a:pPr>
            <a:r>
              <a:rPr sz="675" b="0">
                <a:solidFill>
                  <a:srgbClr val="9A938C"/>
                </a:solidFill>
              </a:rPr>
              <a:t>06C / 34</a:t>
            </a:r>
          </a:p>
        </p:txBody>
      </p:sp>
    </p:spTree>
    <p:extLst>
      <p:ext uri="{BB962C8B-B14F-4D97-AF65-F5344CB8AC3E}">
        <p14:creationId xmlns:p14="http://schemas.microsoft.com/office/powerpoint/2010/main" val="124740983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C9BEB5-8CFA-4F13-9336-0A01EC14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97148"/>
                </a:solidFill>
              </a:defRPr>
            </a:pPr>
            <a:r>
              <a:rPr sz="900" b="1">
                <a:solidFill>
                  <a:srgbClr val="D97148"/>
                </a:solidFill>
              </a:rPr>
              <a:t>DNA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6D0F9-6C9C-4720-B537-4F6EF176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E2A25"/>
                </a:solidFill>
              </a:defRPr>
            </a:pPr>
            <a:r>
              <a:rPr sz="2850" b="1">
                <a:solidFill>
                  <a:srgbClr val="2E2A25"/>
                </a:solidFill>
              </a:rPr>
              <a:t>Japanese Magazine Collage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3C300E-DD92-42F3-8F7F-685846BB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66B5E"/>
                </a:solidFill>
              </a:defRPr>
            </a:pPr>
            <a:r>
              <a:rPr sz="1125" b="0">
                <a:solidFill>
                  <a:srgbClr val="766B5E"/>
                </a:solidFill>
              </a:rPr>
              <a:t>日杂拼贴：密集但有秩序，像一本可浏览的专题。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FDC05A-06B5-47C0-9A8C-6C486418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495300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8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B58B38-B97C-404B-B9FA-ABECDA3D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431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E2A25"/>
                </a:solidFill>
              </a:defRPr>
            </a:pPr>
            <a:r>
              <a:rPr sz="1200" b="1">
                <a:solidFill>
                  <a:srgbClr val="2E2A25"/>
                </a:solidFill>
              </a:rPr>
              <a:t>Style grammar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61302A-8100-46D8-949C-80565DFB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1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C0818E-0647-41DA-A0FD-CCE8AEBA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051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B5E"/>
                </a:solidFill>
              </a:defRPr>
            </a:pPr>
            <a:r>
              <a:rPr sz="900" b="0">
                <a:solidFill>
                  <a:srgbClr val="766B5E"/>
                </a:solidFill>
              </a:rPr>
              <a:t>多图、多标签、多注释，但底层网格必须稳定。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9D7FF9-4D59-4CEC-9358-F10579D9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19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1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7B5806-B4D4-4DD6-A631-CB903741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B5E"/>
                </a:solidFill>
              </a:defRPr>
            </a:pPr>
            <a:r>
              <a:rPr sz="900" b="0">
                <a:solidFill>
                  <a:srgbClr val="766B5E"/>
                </a:solidFill>
              </a:rPr>
              <a:t>像专题页一样组织：主题、样张、价格/频次、注解。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150781-8ABA-4DFF-A1CD-EC56F846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576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1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E7A503-0469-416F-BF93-E517C7A8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814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B5E"/>
                </a:solidFill>
              </a:defRPr>
            </a:pPr>
            <a:r>
              <a:rPr sz="900" b="0">
                <a:solidFill>
                  <a:srgbClr val="766B5E"/>
                </a:solidFill>
              </a:rPr>
              <a:t>适合内容样稿、达人池、物料清单、平台截图墙。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DBA55E-6501-4D29-9F4C-199794F4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1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8499FA-7601-46EB-9F24-61381C03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195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66B5E"/>
                </a:solidFill>
              </a:defRPr>
            </a:pPr>
            <a:r>
              <a:rPr sz="900" b="0">
                <a:solidFill>
                  <a:srgbClr val="766B5E"/>
                </a:solidFill>
              </a:rPr>
              <a:t>混乱是风格，但失控不是风格。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8EF5B1-3F33-4661-8105-C07FE3F9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23812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D971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A3928C-AE8A-4B47-9638-F5DAF990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241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Use for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937D6C-6D2E-4CE6-8CAC-8D4F0E65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05100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社媒 / 内容运营 / 生活方式 / 达人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84A193-E793-4E9C-9073-F1C59C22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67150"/>
            <a:ext cx="23812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DDD8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0A1FE9-B03A-41F4-834D-1D928258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148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97148"/>
                </a:solidFill>
              </a:defRPr>
            </a:pPr>
            <a:r>
              <a:rPr sz="975" b="1">
                <a:solidFill>
                  <a:srgbClr val="D97148"/>
                </a:solidFill>
              </a:rPr>
              <a:t>Avoid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EDA8F0-FFC7-4230-BB29-727120F0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5770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66B5E"/>
                </a:solidFill>
              </a:defRPr>
            </a:pPr>
            <a:r>
              <a:rPr sz="975" b="0">
                <a:solidFill>
                  <a:srgbClr val="766B5E"/>
                </a:solidFill>
              </a:rPr>
              <a:t>不要在投标正文里连续使用太多页。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BDB5C2-1754-473E-A658-18F94724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14500"/>
            <a:ext cx="2190750" cy="4000500"/>
          </a:xfrm>
          <a:prstGeom xmlns:a="http://schemas.openxmlformats.org/drawingml/2006/main" prst="roundRect">
            <a:avLst>
              <a:gd name="adj" fmla="val 870"/>
            </a:avLst>
          </a:prstGeom>
          <a:solidFill xmlns:a="http://schemas.openxmlformats.org/drawingml/2006/main">
            <a:srgbClr val="2E2A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84FFD1-2FC1-4982-89D8-7DA14A9D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95500"/>
            <a:ext cx="15811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971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768848-454D-4345-BC77-E2B45CD1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290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B40908-2393-4DF5-BBCB-DDF5508F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719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BBFF01-E072-4B13-A62B-E99DDF6C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1480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806C8D-33BA-4F85-B094-0B8D7DE1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9A8874"/>
                </a:solidFill>
              </a:defRPr>
            </a:pPr>
            <a:r>
              <a:rPr sz="600" b="0">
                <a:solidFill>
                  <a:srgbClr val="9A8874"/>
                </a:solidFill>
              </a:rPr>
              <a:t>proposal-ppt deep style system demo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BE6AF9-55CD-41AE-9BE2-8CE12B82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A8874"/>
                </a:solidFill>
              </a:defRPr>
            </a:pPr>
            <a:r>
              <a:rPr sz="675" b="0">
                <a:solidFill>
                  <a:srgbClr val="9A8874"/>
                </a:solidFill>
              </a:rPr>
              <a:t>07A / 34</a:t>
            </a:r>
          </a:p>
        </p:txBody>
      </p:sp>
    </p:spTree>
    <p:extLst>
      <p:ext uri="{BB962C8B-B14F-4D97-AF65-F5344CB8AC3E}">
        <p14:creationId xmlns:p14="http://schemas.microsoft.com/office/powerpoint/2010/main" val="112812584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ACE619-99D8-4BDC-B53B-A49347B2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97148"/>
                </a:solidFill>
              </a:defRPr>
            </a:pPr>
            <a:r>
              <a:rPr sz="1650" b="1">
                <a:solidFill>
                  <a:srgbClr val="D97148"/>
                </a:solidFill>
              </a:rPr>
              <a:t>MAGAZINE 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1D322-9E12-47A4-B725-BE628244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76300"/>
            <a:ext cx="628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E2A25"/>
                </a:solidFill>
              </a:defRPr>
            </a:pPr>
            <a:r>
              <a:rPr sz="2400" b="1">
                <a:solidFill>
                  <a:srgbClr val="2E2A25"/>
                </a:solidFill>
              </a:rPr>
              <a:t>把内容样张、截图、场景碎片拼成可感知的运营系统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D4AAE-82AA-41CC-B827-721D4391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381250" cy="1809750"/>
          </a:xfrm>
          <a:prstGeom xmlns:a="http://schemas.openxmlformats.org/drawingml/2006/main" prst="roundRect">
            <a:avLst>
              <a:gd name="adj" fmla="val 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8B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0E2D9A-C5E9-4549-996F-BFDE218F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E2A25"/>
                </a:solidFill>
              </a:defRPr>
            </a:pPr>
            <a:r>
              <a:rPr sz="825" b="1">
                <a:solidFill>
                  <a:srgbClr val="2E2A25"/>
                </a:solidFill>
              </a:rPr>
              <a:t>sample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C6C947-4BE7-4DBC-BD98-5E693859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2190750" cy="2952750"/>
          </a:xfrm>
          <a:prstGeom xmlns:a="http://schemas.openxmlformats.org/drawingml/2006/main" prst="roundRect">
            <a:avLst>
              <a:gd name="adj" fmla="val 870"/>
            </a:avLst>
          </a:prstGeom>
          <a:solidFill xmlns:a="http://schemas.openxmlformats.org/drawingml/2006/main">
            <a:srgbClr val="E8D5B8"/>
          </a:solidFill>
          <a:ln xmlns:a="http://schemas.openxmlformats.org/drawingml/2006/main" w="9525">
            <a:solidFill>
              <a:srgbClr val="D5C8B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DEB367-DCB9-4CF0-8648-4EEA323D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859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E2A25"/>
                </a:solidFill>
              </a:defRPr>
            </a:pPr>
            <a:r>
              <a:rPr sz="825" b="1">
                <a:solidFill>
                  <a:srgbClr val="2E2A25"/>
                </a:solidFill>
              </a:rPr>
              <a:t>sample 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222A9-123B-4B33-9196-FF496F5A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09800"/>
            <a:ext cx="2381250" cy="2000250"/>
          </a:xfrm>
          <a:prstGeom xmlns:a="http://schemas.openxmlformats.org/drawingml/2006/main" prst="roundRect">
            <a:avLst>
              <a:gd name="adj" fmla="val 9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8B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99345C-658B-469A-BE1B-FA61776F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193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E2A25"/>
                </a:solidFill>
              </a:defRPr>
            </a:pPr>
            <a:r>
              <a:rPr sz="825" b="1">
                <a:solidFill>
                  <a:srgbClr val="2E2A25"/>
                </a:solidFill>
              </a:rPr>
              <a:t>sample 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0F47B3-F45E-427B-9366-2790A532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66850"/>
            <a:ext cx="2190750" cy="3143250"/>
          </a:xfrm>
          <a:prstGeom xmlns:a="http://schemas.openxmlformats.org/drawingml/2006/main" prst="roundRect">
            <a:avLst>
              <a:gd name="adj" fmla="val 870"/>
            </a:avLst>
          </a:prstGeom>
          <a:solidFill xmlns:a="http://schemas.openxmlformats.org/drawingml/2006/main">
            <a:srgbClr val="D97148"/>
          </a:solidFill>
          <a:ln xmlns:a="http://schemas.openxmlformats.org/drawingml/2006/main" w="9525">
            <a:solidFill>
              <a:srgbClr val="D5C8B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274F71-0D2D-45B5-97FA-C3A30DBE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764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sample 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8351A0-A0F8-4E0C-AB8B-D33967EC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A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EC677C-9197-4A2D-8B07-176B8F78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483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拼贴页必须有一句主结论，否则只是素材堆。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339F5A-473D-455C-93DF-3C1E08C4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9A8874"/>
                </a:solidFill>
              </a:defRPr>
            </a:pPr>
            <a:r>
              <a:rPr sz="600" b="0">
                <a:solidFill>
                  <a:srgbClr val="9A8874"/>
                </a:solidFill>
              </a:rPr>
              <a:t>proposal-ppt deep style system demo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8FF7E3-02C0-48B4-BF7E-E378F8F7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A8874"/>
                </a:solidFill>
              </a:defRPr>
            </a:pPr>
            <a:r>
              <a:rPr sz="675" b="0">
                <a:solidFill>
                  <a:srgbClr val="9A8874"/>
                </a:solidFill>
              </a:rPr>
              <a:t>07B / 34</a:t>
            </a:r>
          </a:p>
        </p:txBody>
      </p:sp>
    </p:spTree>
    <p:extLst>
      <p:ext uri="{BB962C8B-B14F-4D97-AF65-F5344CB8AC3E}">
        <p14:creationId xmlns:p14="http://schemas.microsoft.com/office/powerpoint/2010/main" val="8447720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EB05F0-5345-4952-A60F-A0E9FEBD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2A25"/>
                </a:solidFill>
              </a:defRPr>
            </a:pPr>
            <a:r>
              <a:rPr sz="1650" b="1">
                <a:solidFill>
                  <a:srgbClr val="2E2A25"/>
                </a:solidFill>
              </a:rPr>
              <a:t>Proof wall / content 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7D7B8C-4461-4CF3-B720-9C1D2342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333500" cy="1257300"/>
          </a:xfrm>
          <a:prstGeom xmlns:a="http://schemas.openxmlformats.org/drawingml/2006/main" prst="roundRect">
            <a:avLst>
              <a:gd name="adj" fmla="val 1515"/>
            </a:avLst>
          </a:prstGeom>
          <a:solidFill xmlns:a="http://schemas.openxmlformats.org/drawingml/2006/main">
            <a:srgbClr val="E8D5B8"/>
          </a:solidFill>
          <a:ln xmlns:a="http://schemas.openxmlformats.org/drawingml/2006/main" w="9525">
            <a:solidFill>
              <a:srgbClr val="D5C8B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7CD8C0-DDFA-405B-B54D-B85449A7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1028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1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CD6D5A-FEF0-44A4-8355-6D165F92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E2A25"/>
                </a:solidFill>
              </a:defRPr>
            </a:pPr>
            <a:r>
              <a:rPr sz="675" b="1">
                <a:solidFill>
                  <a:srgbClr val="2E2A25"/>
                </a:solidFill>
              </a:rPr>
              <a:t>asset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187DC8-1D66-4FBA-9FB3-E6B9092C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257300"/>
            <a:ext cx="1333500" cy="1257300"/>
          </a:xfrm>
          <a:prstGeom xmlns:a="http://schemas.openxmlformats.org/drawingml/2006/main" prst="roundRect">
            <a:avLst>
              <a:gd name="adj" fmla="val 15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8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D38C0A-2EE7-4D0E-8D04-FDD22461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428750"/>
            <a:ext cx="1028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A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860B1F-E287-4A0A-BF0A-CF7BE558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152650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E2A25"/>
                </a:solidFill>
              </a:defRPr>
            </a:pPr>
            <a:r>
              <a:rPr sz="675" b="1">
                <a:solidFill>
                  <a:srgbClr val="2E2A25"/>
                </a:solidFill>
              </a:rPr>
              <a:t>asset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18F321-1108-486C-96A8-7D9D60AB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257300"/>
            <a:ext cx="1333500" cy="1257300"/>
          </a:xfrm>
          <a:prstGeom xmlns:a="http://schemas.openxmlformats.org/drawingml/2006/main" prst="roundRect">
            <a:avLst>
              <a:gd name="adj" fmla="val 15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8B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F485FC-57EC-4C38-9414-BE03BCAF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428750"/>
            <a:ext cx="1028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1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8B0CB5-CF58-4405-B416-91DB3E92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52650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E2A25"/>
                </a:solidFill>
              </a:defRPr>
            </a:pPr>
            <a:r>
              <a:rPr sz="675" b="1">
                <a:solidFill>
                  <a:srgbClr val="2E2A25"/>
                </a:solidFill>
              </a:rPr>
              <a:t>asset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0703E1-2577-485F-A0C4-E1CDC43A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257300"/>
            <a:ext cx="1333500" cy="1257300"/>
          </a:xfrm>
          <a:prstGeom xmlns:a="http://schemas.openxmlformats.org/drawingml/2006/main" prst="roundRect">
            <a:avLst>
              <a:gd name="adj" fmla="val 1515"/>
            </a:avLst>
          </a:prstGeom>
          <a:solidFill xmlns:a="http://schemas.openxmlformats.org/drawingml/2006/main">
            <a:srgbClr val="E8D5B8"/>
          </a:solidFill>
          <a:ln xmlns:a="http://schemas.openxmlformats.org/drawingml/2006/main" w="9525">
            <a:solidFill>
              <a:srgbClr val="D5C8B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D854D9-50D7-4CF9-A0AD-0EA6A8D8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428750"/>
            <a:ext cx="1028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1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58F24A-9A80-4ABE-A120-E57F4533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52650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E2A25"/>
                </a:solidFill>
              </a:defRPr>
            </a:pPr>
            <a:r>
              <a:rPr sz="675" b="1">
                <a:solidFill>
                  <a:srgbClr val="2E2A25"/>
                </a:solidFill>
              </a:rPr>
              <a:t>asset 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013F06-C998-45B9-9D43-F7DA3761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257300"/>
            <a:ext cx="1333500" cy="1257300"/>
          </a:xfrm>
          <a:prstGeom xmlns:a="http://schemas.openxmlformats.org/drawingml/2006/main" prst="roundRect">
            <a:avLst>
              <a:gd name="adj" fmla="val 15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8B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1742C9-7C06-4C99-8EDC-4FCC43CF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28750"/>
            <a:ext cx="1028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A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284C30-0F34-4C28-AF68-A5D26522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52650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E2A25"/>
                </a:solidFill>
              </a:defRPr>
            </a:pPr>
            <a:r>
              <a:rPr sz="675" b="1">
                <a:solidFill>
                  <a:srgbClr val="2E2A25"/>
                </a:solidFill>
              </a:rPr>
              <a:t>asset 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CF4108-A4A2-43BB-80A9-D33219F8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257300"/>
            <a:ext cx="1333500" cy="1257300"/>
          </a:xfrm>
          <a:prstGeom xmlns:a="http://schemas.openxmlformats.org/drawingml/2006/main" prst="roundRect">
            <a:avLst>
              <a:gd name="adj" fmla="val 15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8B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67A59B-256D-40DA-BA77-A31874B7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428750"/>
            <a:ext cx="1028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1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F51B70-0030-4541-8CDE-75A14286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52650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E2A25"/>
                </a:solidFill>
              </a:defRPr>
            </a:pPr>
            <a:r>
              <a:rPr sz="675" b="1">
                <a:solidFill>
                  <a:srgbClr val="2E2A25"/>
                </a:solidFill>
              </a:rPr>
              <a:t>asset 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221227-C4F2-416D-A850-8B7FED5F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333500" cy="1257300"/>
          </a:xfrm>
          <a:prstGeom xmlns:a="http://schemas.openxmlformats.org/drawingml/2006/main" prst="roundRect">
            <a:avLst>
              <a:gd name="adj" fmla="val 1515"/>
            </a:avLst>
          </a:prstGeom>
          <a:solidFill xmlns:a="http://schemas.openxmlformats.org/drawingml/2006/main">
            <a:srgbClr val="E8D5B8"/>
          </a:solidFill>
          <a:ln xmlns:a="http://schemas.openxmlformats.org/drawingml/2006/main" w="9525">
            <a:solidFill>
              <a:srgbClr val="D5C8B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570A26-C6D2-4A03-9BF8-1198FC30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1028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1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A82F15-370F-4FC6-A83C-6C79324F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E2A25"/>
                </a:solidFill>
              </a:defRPr>
            </a:pPr>
            <a:r>
              <a:rPr sz="675" b="1">
                <a:solidFill>
                  <a:srgbClr val="2E2A25"/>
                </a:solidFill>
              </a:rPr>
              <a:t>asset 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D143C-4588-417F-B425-2E2B18B5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67050"/>
            <a:ext cx="1333500" cy="1257300"/>
          </a:xfrm>
          <a:prstGeom xmlns:a="http://schemas.openxmlformats.org/drawingml/2006/main" prst="roundRect">
            <a:avLst>
              <a:gd name="adj" fmla="val 15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8B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1FE9B6-E4B1-4525-85CC-ED7127CC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238500"/>
            <a:ext cx="1028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A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762D68-7292-437D-B788-A19CC568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962400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E2A25"/>
                </a:solidFill>
              </a:defRPr>
            </a:pPr>
            <a:r>
              <a:rPr sz="675" b="1">
                <a:solidFill>
                  <a:srgbClr val="2E2A25"/>
                </a:solidFill>
              </a:rPr>
              <a:t>asset 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A08B6D-A753-4306-A375-45F9747F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067050"/>
            <a:ext cx="1333500" cy="1257300"/>
          </a:xfrm>
          <a:prstGeom xmlns:a="http://schemas.openxmlformats.org/drawingml/2006/main" prst="roundRect">
            <a:avLst>
              <a:gd name="adj" fmla="val 15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8B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CF0869-3D2A-4ECF-9602-C054222F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38500"/>
            <a:ext cx="1028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1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65256D-948D-4F07-BBE7-E0AD902F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62400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E2A25"/>
                </a:solidFill>
              </a:defRPr>
            </a:pPr>
            <a:r>
              <a:rPr sz="675" b="1">
                <a:solidFill>
                  <a:srgbClr val="2E2A25"/>
                </a:solidFill>
              </a:rPr>
              <a:t>asset 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62B621-2F4A-410E-B02C-00C4AA14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067050"/>
            <a:ext cx="1333500" cy="1257300"/>
          </a:xfrm>
          <a:prstGeom xmlns:a="http://schemas.openxmlformats.org/drawingml/2006/main" prst="roundRect">
            <a:avLst>
              <a:gd name="adj" fmla="val 1515"/>
            </a:avLst>
          </a:prstGeom>
          <a:solidFill xmlns:a="http://schemas.openxmlformats.org/drawingml/2006/main">
            <a:srgbClr val="E8D5B8"/>
          </a:solidFill>
          <a:ln xmlns:a="http://schemas.openxmlformats.org/drawingml/2006/main" w="9525">
            <a:solidFill>
              <a:srgbClr val="D5C8B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802EDA-8B48-4924-B416-9A790FC0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0"/>
            <a:ext cx="1028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1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9C6685-5311-40A5-8786-B1070CBA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962400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E2A25"/>
                </a:solidFill>
              </a:defRPr>
            </a:pPr>
            <a:r>
              <a:rPr sz="675" b="1">
                <a:solidFill>
                  <a:srgbClr val="2E2A25"/>
                </a:solidFill>
              </a:rPr>
              <a:t>asset 10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1C6269-B1EE-4A58-BC51-53442B1E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67050"/>
            <a:ext cx="1333500" cy="1257300"/>
          </a:xfrm>
          <a:prstGeom xmlns:a="http://schemas.openxmlformats.org/drawingml/2006/main" prst="roundRect">
            <a:avLst>
              <a:gd name="adj" fmla="val 15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8B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9F6DBF-2191-4E61-B2CA-A3B86D50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38500"/>
            <a:ext cx="1028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A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E3B1FE-18E2-44E9-BC47-0BBDCB66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62400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E2A25"/>
                </a:solidFill>
              </a:defRPr>
            </a:pPr>
            <a:r>
              <a:rPr sz="675" b="1">
                <a:solidFill>
                  <a:srgbClr val="2E2A25"/>
                </a:solidFill>
              </a:rPr>
              <a:t>asset 11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36F6CB-E355-43CC-A2E6-6338CD83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67050"/>
            <a:ext cx="1333500" cy="1257300"/>
          </a:xfrm>
          <a:prstGeom xmlns:a="http://schemas.openxmlformats.org/drawingml/2006/main" prst="roundRect">
            <a:avLst>
              <a:gd name="adj" fmla="val 15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8B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590212-DF3C-49B0-A794-A4778046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38500"/>
            <a:ext cx="1028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1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BEEB6B-7B9C-4B15-8D52-09CF2DD6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62400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E2A25"/>
                </a:solidFill>
              </a:defRPr>
            </a:pPr>
            <a:r>
              <a:rPr sz="675" b="1">
                <a:solidFill>
                  <a:srgbClr val="2E2A25"/>
                </a:solidFill>
              </a:rPr>
              <a:t>asset 12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A6D9FDE-20C4-471D-A63D-49FDB030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9486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8B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1C6AB3-CE4E-4D8C-9020-39E42279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149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2A25"/>
                </a:solidFill>
              </a:defRPr>
            </a:pPr>
            <a:r>
              <a:rPr sz="1050" b="1">
                <a:solidFill>
                  <a:srgbClr val="2E2A25"/>
                </a:solidFill>
              </a:rPr>
              <a:t>Use labels to turn clutter into proof: source / objective / action / owner.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D6659F-C31E-4FC5-9099-63C9CA31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9A8874"/>
                </a:solidFill>
              </a:defRPr>
            </a:pPr>
            <a:r>
              <a:rPr sz="600" b="0">
                <a:solidFill>
                  <a:srgbClr val="9A8874"/>
                </a:solidFill>
              </a:rPr>
              <a:t>proposal-ppt deep style system demo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B5EABE-F568-48BC-ABEF-06E43EFC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A8874"/>
                </a:solidFill>
              </a:defRPr>
            </a:pPr>
            <a:r>
              <a:rPr sz="675" b="0">
                <a:solidFill>
                  <a:srgbClr val="9A8874"/>
                </a:solidFill>
              </a:rPr>
              <a:t>07C / 34</a:t>
            </a:r>
          </a:p>
        </p:txBody>
      </p:sp>
    </p:spTree>
    <p:extLst>
      <p:ext uri="{BB962C8B-B14F-4D97-AF65-F5344CB8AC3E}">
        <p14:creationId xmlns:p14="http://schemas.microsoft.com/office/powerpoint/2010/main" val="28534724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9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7E0CE3-2FE3-42A1-860C-A0FA5A50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5272D"/>
                </a:solidFill>
              </a:defRPr>
            </a:pPr>
            <a:r>
              <a:rPr sz="900" b="1">
                <a:solidFill>
                  <a:srgbClr val="B5272D"/>
                </a:solidFill>
              </a:rPr>
              <a:t>DNA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FCA261-EADB-4D36-AB73-85535CDE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Chinese Ink Wash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81DF51-3561-4694-ABE6-978FF8BE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953"/>
                </a:solidFill>
              </a:defRPr>
            </a:pPr>
            <a:r>
              <a:rPr sz="1125" b="0">
                <a:solidFill>
                  <a:srgbClr val="5C5953"/>
                </a:solidFill>
              </a:rPr>
              <a:t>水墨：墨色、灰阶、红印、留白；抓神，不摹形。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B453A4-C918-493C-8909-7135A434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495300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8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A351D9-67B6-4915-9942-F411C584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431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Style grammar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376987-BAAD-4256-A5A6-8B1D31B2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2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E5952F-565D-412A-A6DB-1D71E048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051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5953"/>
                </a:solidFill>
              </a:defRPr>
            </a:pPr>
            <a:r>
              <a:rPr sz="900" b="0">
                <a:solidFill>
                  <a:srgbClr val="5C5953"/>
                </a:solidFill>
              </a:rPr>
              <a:t>用黑灰白和一枚红色强调，不做彩色水墨。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B73B3B-E939-4032-A2D6-BA9F71E3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19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2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62DAD5-D898-4BB2-B38C-9A08FA80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5953"/>
                </a:solidFill>
              </a:defRPr>
            </a:pPr>
            <a:r>
              <a:rPr sz="900" b="0">
                <a:solidFill>
                  <a:srgbClr val="5C5953"/>
                </a:solidFill>
              </a:rPr>
              <a:t>画面主体是墨气和留白，不是装饰背景。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D80913-A5EF-4BAA-B98E-E3ECB2AA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576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2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54138B-D8B5-49F6-906A-978CA009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814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5953"/>
                </a:solidFill>
              </a:defRPr>
            </a:pPr>
            <a:r>
              <a:rPr sz="900" b="0">
                <a:solidFill>
                  <a:srgbClr val="5C5953"/>
                </a:solidFill>
              </a:rPr>
              <a:t>标题可以像题跋，证据必须仍然清楚。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3453C5-50F6-40E3-9A65-1404D7A3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2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9F228E-DA5A-4227-98B3-F4B5CAE4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195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5953"/>
                </a:solidFill>
              </a:defRPr>
            </a:pPr>
            <a:r>
              <a:rPr sz="900" b="0">
                <a:solidFill>
                  <a:srgbClr val="5C5953"/>
                </a:solidFill>
              </a:rPr>
              <a:t>适合文化、政企、东方审美品牌。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738106-F38B-4FBA-876E-C4E7CEE2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23812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B52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CCC267-E59A-4CAC-9CC4-1458B27E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241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Use for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FD43FE-590A-4F96-B0C9-9A16BA88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05100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文化 / 政企 / 东方审美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16F86E-1CF0-4B21-A76F-88AF01FC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67150"/>
            <a:ext cx="23812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DDD8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6DBD96-8F43-4075-BFEA-D35E4C5D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148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5272D"/>
                </a:solidFill>
              </a:defRPr>
            </a:pPr>
            <a:r>
              <a:rPr sz="975" b="1">
                <a:solidFill>
                  <a:srgbClr val="B5272D"/>
                </a:solidFill>
              </a:rPr>
              <a:t>Avoid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07EB3E-21FE-4D44-B2B0-9136C583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5770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5953"/>
                </a:solidFill>
              </a:defRPr>
            </a:pPr>
            <a:r>
              <a:rPr sz="975" b="0">
                <a:solidFill>
                  <a:srgbClr val="5C5953"/>
                </a:solidFill>
              </a:rPr>
              <a:t>不要把水墨当成大面积花纹。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1954FB-83B0-466A-8070-7ADFDA31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14500"/>
            <a:ext cx="2190750" cy="4000500"/>
          </a:xfrm>
          <a:prstGeom xmlns:a="http://schemas.openxmlformats.org/drawingml/2006/main" prst="roundRect">
            <a:avLst>
              <a:gd name="adj" fmla="val 87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4547AB-80DD-462D-AABE-DEB4DA78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95500"/>
            <a:ext cx="15811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B52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8422D4-72E1-4A5A-8310-A19153E1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290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59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BAD4D4-D4F6-47C4-BDD3-8EC2B607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719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59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A13CEC-280C-4632-8251-B44FAC55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1480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59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8A4884-E30D-4ED2-A91E-3936D346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8C877E"/>
                </a:solidFill>
              </a:defRPr>
            </a:pPr>
            <a:r>
              <a:rPr sz="600" b="0">
                <a:solidFill>
                  <a:srgbClr val="8C877E"/>
                </a:solidFill>
              </a:rPr>
              <a:t>proposal-ppt deep style system demo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55E22A-B7F7-4150-81B9-6A21570C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C877E"/>
                </a:solidFill>
              </a:defRPr>
            </a:pPr>
            <a:r>
              <a:rPr sz="675" b="0">
                <a:solidFill>
                  <a:srgbClr val="8C877E"/>
                </a:solidFill>
              </a:rPr>
              <a:t>08A / 34</a:t>
            </a:r>
          </a:p>
        </p:txBody>
      </p:sp>
    </p:spTree>
    <p:extLst>
      <p:ext uri="{BB962C8B-B14F-4D97-AF65-F5344CB8AC3E}">
        <p14:creationId xmlns:p14="http://schemas.microsoft.com/office/powerpoint/2010/main" val="67610687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9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209251-7258-43DB-8529-53A49E50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66750"/>
            <a:ext cx="352425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5115D-9E23-4D84-A9D4-A7D3A534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19200"/>
            <a:ext cx="3333750" cy="2609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99B6C8-DF14-4B4E-9336-9EFA4243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1809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5CFB3D-EBDE-4436-A796-4755CBA8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留白是气口，墨色是判断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BDA2EB-83D8-4B84-8364-3935B660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953"/>
                </a:solidFill>
              </a:defRPr>
            </a:pPr>
            <a:r>
              <a:rPr sz="1125" b="0">
                <a:solidFill>
                  <a:srgbClr val="5C5953"/>
                </a:solidFill>
              </a:rPr>
              <a:t>这一页应该像一幅题跋：少字，但每个字有位置。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15DFA1-EF3B-4D8A-8BE0-221B2EC1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2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9D6882-C5D0-429C-AF2F-6DBB043C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E52AE4-EF5D-4202-920E-7DA9D344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8C877E"/>
                </a:solidFill>
              </a:defRPr>
            </a:pPr>
            <a:r>
              <a:rPr sz="600" b="0">
                <a:solidFill>
                  <a:srgbClr val="8C877E"/>
                </a:solidFill>
              </a:rPr>
              <a:t>proposal-ppt deep style system demo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D46BC8-E47C-4FA9-9A8A-ABE21A50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C877E"/>
                </a:solidFill>
              </a:defRPr>
            </a:pPr>
            <a:r>
              <a:rPr sz="675" b="0">
                <a:solidFill>
                  <a:srgbClr val="8C877E"/>
                </a:solidFill>
              </a:rPr>
              <a:t>08B / 34</a:t>
            </a:r>
          </a:p>
        </p:txBody>
      </p:sp>
    </p:spTree>
    <p:extLst>
      <p:ext uri="{BB962C8B-B14F-4D97-AF65-F5344CB8AC3E}">
        <p14:creationId xmlns:p14="http://schemas.microsoft.com/office/powerpoint/2010/main" val="68864438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9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486563-8ECD-44EA-AFCA-3EF7317C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5272D"/>
                </a:solidFill>
              </a:defRPr>
            </a:pPr>
            <a:r>
              <a:rPr sz="975" b="1">
                <a:solidFill>
                  <a:srgbClr val="B5272D"/>
                </a:solidFill>
              </a:rPr>
              <a:t>Evidence like calligraphy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6AA91-0A46-4F6F-9763-1CCA4CA1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4857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8C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C5CE37-CEAB-41A1-B795-34D4F669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3E4C60-CCE4-41D6-8B29-54237211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2877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1111"/>
                </a:solidFill>
              </a:defRPr>
            </a:pPr>
            <a:r>
              <a:rPr sz="750" b="1">
                <a:solidFill>
                  <a:srgbClr val="111111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D0C49-A9E7-4EC8-BC1C-515835F9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192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客户问题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411403-3E56-4F01-93DA-E3220D7A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628775"/>
            <a:ext cx="2933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B6B6B"/>
                </a:solidFill>
              </a:defRPr>
            </a:pPr>
            <a:r>
              <a:rPr sz="750" b="0">
                <a:solidFill>
                  <a:srgbClr val="6B6B6B"/>
                </a:solidFill>
              </a:rPr>
              <a:t>one verifiable commitment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D52F41-2B34-417B-A40B-415E9E10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4857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8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F24057-EB17-426E-9D37-A1643ECE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2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236E91-48D8-4B86-99F9-2B532EAD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2407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B5272D"/>
                </a:solidFill>
              </a:defRPr>
            </a:pPr>
            <a:r>
              <a:rPr sz="750" b="1">
                <a:solidFill>
                  <a:srgbClr val="B5272D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12DC42-9523-44BE-A356-7BE8ED90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145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核心判断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C0C0C0-912B-4477-AC09-0AF99488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124075"/>
            <a:ext cx="2933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B6B6B"/>
                </a:solidFill>
              </a:defRPr>
            </a:pPr>
            <a:r>
              <a:rPr sz="750" b="0">
                <a:solidFill>
                  <a:srgbClr val="6B6B6B"/>
                </a:solidFill>
              </a:rPr>
              <a:t>one verifiable commitment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B0411E-68F0-4616-A5AD-72A7A43E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4857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8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93A8F1-1210-4D30-B994-96ED2B9C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03B6E5-F385-4085-BCC6-4F7463D0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7736B"/>
                </a:solidFill>
              </a:defRPr>
            </a:pPr>
            <a:r>
              <a:rPr sz="750" b="1">
                <a:solidFill>
                  <a:srgbClr val="77736B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45FD77-B82C-4B7D-9464-2727865A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098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执行证据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9A90C3-0E03-446D-AC28-19C44944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619375"/>
            <a:ext cx="2933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B6B6B"/>
                </a:solidFill>
              </a:defRPr>
            </a:pPr>
            <a:r>
              <a:rPr sz="750" b="0">
                <a:solidFill>
                  <a:srgbClr val="6B6B6B"/>
                </a:solidFill>
              </a:rPr>
              <a:t>one verifiable commitment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CE8D50-D941-4309-8B82-B5B0009B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4857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8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192FC7-F159-4CFE-AA5B-21F24AE0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F059B6-86C7-4BC6-B3BF-E9892131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1467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D9D6CE"/>
                </a:solidFill>
              </a:defRPr>
            </a:pPr>
            <a:r>
              <a:rPr sz="750" b="1">
                <a:solidFill>
                  <a:srgbClr val="D9D6CE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2B2483-3ADE-477D-91BD-91CB8F7D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05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预算边界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E4F885-CA84-40C0-B389-FE5EEFB2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14675"/>
            <a:ext cx="2933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B6B6B"/>
                </a:solidFill>
              </a:defRPr>
            </a:pPr>
            <a:r>
              <a:rPr sz="750" b="0">
                <a:solidFill>
                  <a:srgbClr val="6B6B6B"/>
                </a:solidFill>
              </a:rPr>
              <a:t>one verifiable commitment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B0DD8C-2BEA-47E6-81E2-F170CD1E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24000"/>
            <a:ext cx="352425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EE8BEA-35AD-4C1A-BB1C-0854AE6A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90750"/>
            <a:ext cx="19050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1D273B-2135-4FB4-8902-14700ECF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006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953"/>
                </a:solidFill>
              </a:defRPr>
            </a:pPr>
            <a:r>
              <a:rPr sz="1125" b="0">
                <a:solidFill>
                  <a:srgbClr val="5C5953"/>
                </a:solidFill>
              </a:rPr>
              <a:t>墨迹可以承载气质，但商业页面仍要回答：谁做、何时交、怎么验收。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94D83B-5DD1-4B5B-BE96-6F401842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8C877E"/>
                </a:solidFill>
              </a:defRPr>
            </a:pPr>
            <a:r>
              <a:rPr sz="600" b="0">
                <a:solidFill>
                  <a:srgbClr val="8C877E"/>
                </a:solidFill>
              </a:rPr>
              <a:t>proposal-ppt deep style system demo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78AAAC-4D63-402C-AFC6-250817AB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C877E"/>
                </a:solidFill>
              </a:defRPr>
            </a:pPr>
            <a:r>
              <a:rPr sz="675" b="0">
                <a:solidFill>
                  <a:srgbClr val="8C877E"/>
                </a:solidFill>
              </a:rPr>
              <a:t>08C / 34</a:t>
            </a:r>
          </a:p>
        </p:txBody>
      </p:sp>
    </p:spTree>
    <p:extLst>
      <p:ext uri="{BB962C8B-B14F-4D97-AF65-F5344CB8AC3E}">
        <p14:creationId xmlns:p14="http://schemas.microsoft.com/office/powerpoint/2010/main" val="50422611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5E6D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88A395-4120-445F-A5E6-2B5BD6E1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894D"/>
                </a:solidFill>
              </a:defRPr>
            </a:pPr>
            <a:r>
              <a:rPr sz="900" b="1">
                <a:solidFill>
                  <a:srgbClr val="B8894D"/>
                </a:solidFill>
              </a:rPr>
              <a:t>DNA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029276-90EB-4C67-94E0-4B0EB86A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21D12"/>
                </a:solidFill>
              </a:defRPr>
            </a:pPr>
            <a:r>
              <a:rPr sz="2850" b="1">
                <a:solidFill>
                  <a:srgbClr val="321D12"/>
                </a:solidFill>
              </a:rPr>
              <a:t>Oil Painting Salon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76F27-BBC1-4B67-8D9B-C92F57FD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D4E3A"/>
                </a:solidFill>
              </a:defRPr>
            </a:pPr>
            <a:r>
              <a:rPr sz="1125" b="0">
                <a:solidFill>
                  <a:srgbClr val="6D4E3A"/>
                </a:solidFill>
              </a:rPr>
              <a:t>油画沙龙：厚重色块、画框、暖光、文化与仪式感。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B7FBEE-14D4-43DB-9176-EF04206D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495300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8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110EF3-383E-4B47-810C-CE75D15C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431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21D12"/>
                </a:solidFill>
              </a:defRPr>
            </a:pPr>
            <a:r>
              <a:rPr sz="1200" b="1">
                <a:solidFill>
                  <a:srgbClr val="321D12"/>
                </a:solidFill>
              </a:rPr>
              <a:t>Style grammar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6340D7-90D6-4736-8E85-85224EDF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9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022C09-B927-4B47-B772-ED9A9F3B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051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D4E3A"/>
                </a:solidFill>
              </a:defRPr>
            </a:pPr>
            <a:r>
              <a:rPr sz="900" b="0">
                <a:solidFill>
                  <a:srgbClr val="6D4E3A"/>
                </a:solidFill>
              </a:rPr>
              <a:t>主图像像画框，不像商务卡片。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B1048D-DF26-4A01-90D5-2F7DC9FF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19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9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C7BDB1-ED13-4715-BA0D-A02551E9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D4E3A"/>
                </a:solidFill>
              </a:defRPr>
            </a:pPr>
            <a:r>
              <a:rPr sz="900" b="0">
                <a:solidFill>
                  <a:srgbClr val="6D4E3A"/>
                </a:solidFill>
              </a:rPr>
              <a:t>用深棕、赭石、金色建立厚度。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B82476-5372-4B4B-9BEC-B9084279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576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9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2486F9-D3D8-499E-BDF8-CD5B7EC4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814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D4E3A"/>
                </a:solidFill>
              </a:defRPr>
            </a:pPr>
            <a:r>
              <a:rPr sz="900" b="0">
                <a:solidFill>
                  <a:srgbClr val="6D4E3A"/>
                </a:solidFill>
              </a:rPr>
              <a:t>适合作为封面、概念页、礼赠/文化页。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346939-DF18-4521-8202-A616122F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9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392085-3C9C-4F6D-8EB6-A19457A4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195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D4E3A"/>
                </a:solidFill>
              </a:defRPr>
            </a:pPr>
            <a:r>
              <a:rPr sz="900" b="0">
                <a:solidFill>
                  <a:srgbClr val="6D4E3A"/>
                </a:solidFill>
              </a:rPr>
              <a:t>正文证据页要降低纹理强度。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5A42F2-278A-4AB4-8D4F-A5D1143E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23812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B889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5EEB97-C760-4BA5-A5C1-93DC98A5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241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Use for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C798F7-1538-4575-B443-51236F4B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05100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文化艺术 / 礼赠 / 酒旅 / 仪式感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D7F947-6587-42FA-8E17-00BD37C0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67150"/>
            <a:ext cx="23812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DDD8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29D0CF-8AF4-467E-A904-B3F33769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148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8894D"/>
                </a:solidFill>
              </a:defRPr>
            </a:pPr>
            <a:r>
              <a:rPr sz="975" b="1">
                <a:solidFill>
                  <a:srgbClr val="B8894D"/>
                </a:solidFill>
              </a:rPr>
              <a:t>Avoid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249796-2E49-4B4D-B85C-8D336ECD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5770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D4E3A"/>
                </a:solidFill>
              </a:defRPr>
            </a:pPr>
            <a:r>
              <a:rPr sz="975" b="0">
                <a:solidFill>
                  <a:srgbClr val="6D4E3A"/>
                </a:solidFill>
              </a:rPr>
              <a:t>不要让油画感遮住表格和数字。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81750E-949B-4226-A090-DD22512B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14500"/>
            <a:ext cx="2190750" cy="4000500"/>
          </a:xfrm>
          <a:prstGeom xmlns:a="http://schemas.openxmlformats.org/drawingml/2006/main" prst="roundRect">
            <a:avLst>
              <a:gd name="adj" fmla="val 870"/>
            </a:avLst>
          </a:prstGeom>
          <a:solidFill xmlns:a="http://schemas.openxmlformats.org/drawingml/2006/main">
            <a:srgbClr val="321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3E61FC-6CFF-4093-884A-66E0BD27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95500"/>
            <a:ext cx="15811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B889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04D95E-E669-435F-9626-815B2529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290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4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DCAA06-06E5-40F8-AF82-013BBE0B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719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4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A92545-A201-4E7B-A17E-A718AD2E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1480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4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C14949-851D-4BDB-9F04-5F21C15D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8F7358"/>
                </a:solidFill>
              </a:defRPr>
            </a:pPr>
            <a:r>
              <a:rPr sz="600" b="0">
                <a:solidFill>
                  <a:srgbClr val="8F7358"/>
                </a:solidFill>
              </a:rPr>
              <a:t>proposal-ppt deep style system demo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B5D8C5-0F76-4360-9C7B-4412380D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F7358"/>
                </a:solidFill>
              </a:defRPr>
            </a:pPr>
            <a:r>
              <a:rPr sz="675" b="0">
                <a:solidFill>
                  <a:srgbClr val="8F7358"/>
                </a:solidFill>
              </a:rPr>
              <a:t>09A / 34</a:t>
            </a:r>
          </a:p>
        </p:txBody>
      </p:sp>
    </p:spTree>
    <p:extLst>
      <p:ext uri="{BB962C8B-B14F-4D97-AF65-F5344CB8AC3E}">
        <p14:creationId xmlns:p14="http://schemas.microsoft.com/office/powerpoint/2010/main" val="190669249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E6D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2CFC33-173A-4EAC-9B67-195963A9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6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894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FB55E-712C-499B-82F2-05D87C59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257300"/>
            <a:ext cx="4095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1D12"/>
          </a:solidFill>
          <a:ln xmlns:a="http://schemas.openxmlformats.org/drawingml/2006/main" w="19050">
            <a:solidFill>
              <a:srgbClr val="B8894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175E29-F193-4995-B5C7-811D8DBF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962150"/>
            <a:ext cx="1809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5C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CE9D7-CBAF-4DF9-9018-88BFAF08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57450"/>
            <a:ext cx="17145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1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17F564-3FCC-4C0E-B5BB-77AAB5A6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24050"/>
            <a:ext cx="4191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321D12"/>
                </a:solidFill>
              </a:defRPr>
            </a:pPr>
            <a:r>
              <a:rPr sz="2700" b="1">
                <a:solidFill>
                  <a:srgbClr val="321D12"/>
                </a:solidFill>
              </a:rPr>
              <a:t>用油画质感建立文化、艺术与礼赠的仪式感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6988BF-7B12-46A6-9A1C-BCE44BD2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1051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D4E3A"/>
                </a:solidFill>
              </a:defRPr>
            </a:pPr>
            <a:r>
              <a:rPr sz="1125" b="0">
                <a:solidFill>
                  <a:srgbClr val="6D4E3A"/>
                </a:solidFill>
              </a:rPr>
              <a:t>像一张展览海报，而不是一页普通方案。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B1C65-1BAC-49E9-8F87-C34383CB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8F7358"/>
                </a:solidFill>
              </a:defRPr>
            </a:pPr>
            <a:r>
              <a:rPr sz="600" b="0">
                <a:solidFill>
                  <a:srgbClr val="8F7358"/>
                </a:solidFill>
              </a:rPr>
              <a:t>proposal-ppt deep style system demo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E32915-3C79-4249-B999-9E40953F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F7358"/>
                </a:solidFill>
              </a:defRPr>
            </a:pPr>
            <a:r>
              <a:rPr sz="675" b="0">
                <a:solidFill>
                  <a:srgbClr val="8F7358"/>
                </a:solidFill>
              </a:rPr>
              <a:t>09B / 34</a:t>
            </a:r>
          </a:p>
        </p:txBody>
      </p:sp>
    </p:spTree>
    <p:extLst>
      <p:ext uri="{BB962C8B-B14F-4D97-AF65-F5344CB8AC3E}">
        <p14:creationId xmlns:p14="http://schemas.microsoft.com/office/powerpoint/2010/main" val="137480486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5E6D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73370C-C207-42D1-9A89-C9DBA5E3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21D12"/>
                </a:solidFill>
              </a:defRPr>
            </a:pPr>
            <a:r>
              <a:rPr sz="1800" b="1">
                <a:solidFill>
                  <a:srgbClr val="321D12"/>
                </a:solidFill>
              </a:rPr>
              <a:t>Salon proof page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FD859D-0E54-4221-A497-8DD482B5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3048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1D12"/>
          </a:solidFill>
          <a:ln xmlns:a="http://schemas.openxmlformats.org/drawingml/2006/main" w="19050">
            <a:solidFill>
              <a:srgbClr val="B8894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487B1-D346-42AA-83DF-A8548796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66850"/>
            <a:ext cx="4953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8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BEBAC2-64DC-4794-B76E-F0D871F8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6685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1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DCE59D-54DA-4289-AA0F-77518AF9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7162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21D12"/>
                </a:solidFill>
              </a:defRPr>
            </a:pPr>
            <a:r>
              <a:rPr sz="750" b="1">
                <a:solidFill>
                  <a:srgbClr val="321D12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685B8E-233C-4125-89EA-D7CEA4DB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5621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客户问题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80AEF4-2884-421E-8466-9DF6EE1C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71625"/>
            <a:ext cx="3028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B6B6B"/>
                </a:solidFill>
              </a:defRPr>
            </a:pPr>
            <a:r>
              <a:rPr sz="750" b="0">
                <a:solidFill>
                  <a:srgbClr val="6B6B6B"/>
                </a:solidFill>
              </a:rPr>
              <a:t>one verifiable commitment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8AA00A-FC5D-4ABA-BC89-27E990CA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62150"/>
            <a:ext cx="4953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8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D03885-79BF-4FA3-B487-DBAF3C68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6215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9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49FFA9-4AAB-49C1-B671-41DBCC0A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6692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B8894D"/>
                </a:solidFill>
              </a:defRPr>
            </a:pPr>
            <a:r>
              <a:rPr sz="750" b="1">
                <a:solidFill>
                  <a:srgbClr val="B8894D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39B1E7-4F4A-49F3-9EE8-F26FDAD4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574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核心判断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31BDDD-D380-4896-B4FC-1FE3F4EE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66925"/>
            <a:ext cx="3028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B6B6B"/>
                </a:solidFill>
              </a:defRPr>
            </a:pPr>
            <a:r>
              <a:rPr sz="750" b="0">
                <a:solidFill>
                  <a:srgbClr val="6B6B6B"/>
                </a:solidFill>
              </a:rPr>
              <a:t>one verifiable commitment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42417-8656-4F20-BDA1-F47BED1C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57450"/>
            <a:ext cx="4953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8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31F6B2-30E4-4B96-B942-154D68A1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5745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5C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D5C27C-13CC-4975-8E42-00CC058F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6222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965C36"/>
                </a:solidFill>
              </a:defRPr>
            </a:pPr>
            <a:r>
              <a:rPr sz="750" b="1">
                <a:solidFill>
                  <a:srgbClr val="965C36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06DD4A-4ACC-4409-A1E0-7429BB53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527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执行证据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73F651-A8BB-412B-9B34-FA03ED8C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62225"/>
            <a:ext cx="3028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B6B6B"/>
                </a:solidFill>
              </a:defRPr>
            </a:pPr>
            <a:r>
              <a:rPr sz="750" b="0">
                <a:solidFill>
                  <a:srgbClr val="6B6B6B"/>
                </a:solidFill>
              </a:rPr>
              <a:t>one verifiable commitment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0E5076-9E2D-4ADD-BE7F-0BB49703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52750"/>
            <a:ext cx="4953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8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1A14F9-F4E4-48B9-B0A4-A55FAC5B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5275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5B36C8-1E4A-4269-9C0D-0F16FEDC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5752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85C45"/>
                </a:solidFill>
              </a:defRPr>
            </a:pPr>
            <a:r>
              <a:rPr sz="750" b="1">
                <a:solidFill>
                  <a:srgbClr val="A85C45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5B5A48-8F6B-4E1E-9BBA-E6F54B9E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0480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预算边界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628248-632E-4A2F-89F6-16C714DE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57525"/>
            <a:ext cx="3028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B6B6B"/>
                </a:solidFill>
              </a:defRPr>
            </a:pPr>
            <a:r>
              <a:rPr sz="750" b="0">
                <a:solidFill>
                  <a:srgbClr val="6B6B6B"/>
                </a:solidFill>
              </a:rPr>
              <a:t>one verifiable commitment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A49D96-248A-43E2-917E-EE517F7E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052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21D12"/>
                </a:solidFill>
              </a:defRPr>
            </a:pPr>
            <a:r>
              <a:rPr sz="1650" b="1">
                <a:solidFill>
                  <a:srgbClr val="321D12"/>
                </a:solidFill>
              </a:rPr>
              <a:t>结论应像展签一样短。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BF43DD-FC97-4346-932E-67C8C3B1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8F7358"/>
                </a:solidFill>
              </a:defRPr>
            </a:pPr>
            <a:r>
              <a:rPr sz="600" b="0">
                <a:solidFill>
                  <a:srgbClr val="8F7358"/>
                </a:solidFill>
              </a:rPr>
              <a:t>proposal-ppt deep style system demo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53DC29-6231-4073-84AF-EF4C8B2F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F7358"/>
                </a:solidFill>
              </a:defRPr>
            </a:pPr>
            <a:r>
              <a:rPr sz="675" b="0">
                <a:solidFill>
                  <a:srgbClr val="8F7358"/>
                </a:solidFill>
              </a:rPr>
              <a:t>09C / 34</a:t>
            </a:r>
          </a:p>
        </p:txBody>
      </p:sp>
    </p:spTree>
    <p:extLst>
      <p:ext uri="{BB962C8B-B14F-4D97-AF65-F5344CB8AC3E}">
        <p14:creationId xmlns:p14="http://schemas.microsoft.com/office/powerpoint/2010/main" val="14395092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3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37402B-5930-42A0-946B-E9DE1E7A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E6E6E"/>
                </a:solidFill>
              </a:defRPr>
            </a:pPr>
            <a:r>
              <a:rPr sz="900" b="1">
                <a:solidFill>
                  <a:srgbClr val="6E6E6E"/>
                </a:solidFill>
              </a:rPr>
              <a:t>DNA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ED83F0-78EB-4839-892C-D6916625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E-reader Mono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8C2209-78CE-4B7D-A8E8-175B024F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电子阅读器黑白：像可阅读的研究提案，克制、耐读、低噪音。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84825E-27B6-432F-A542-6CDFB5CC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495300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8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8063F3-368F-455A-8342-F64F00A5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431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Style grammar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45002E-3AE1-4235-8510-0BCEEE33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D55103-364E-4678-A2CD-F5AAD205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051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黑白灰，纸张底色，像目录和边注。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D16DD4-B45B-4FE8-B197-63A8284B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19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0BD38E-DA20-4AE2-A450-B891F341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适合研究型、知识产品、白皮书型提案。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D2B903-A74F-41EF-BC5B-E666467B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576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2751F7-B545-4549-A221-BF81B881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814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正文可更多，但必须排成可读版心。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80A676-2AEA-4607-8108-57771E51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43EEE3-22F9-4503-8CD3-9DF1CE02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195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用细线、页码、章节编号组织逻辑。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42BF1B-98FB-4345-A480-8FB9B52E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23812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6E6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E1B53A-BCEC-4D3C-827D-F2A796DB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241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Use for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E13631-5C26-4B0F-9456-A6626F4E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05100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研究报告 / 知识产品 / 白皮书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812C38-CB9A-4012-A1E9-B9368628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67150"/>
            <a:ext cx="23812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DDD8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7D8952-67B1-42D3-9E31-D722F675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148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6E6E"/>
                </a:solidFill>
              </a:defRPr>
            </a:pPr>
            <a:r>
              <a:rPr sz="975" b="1">
                <a:solidFill>
                  <a:srgbClr val="6E6E6E"/>
                </a:solidFill>
              </a:rPr>
              <a:t>Avoid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F8D135-A5C7-49BD-A7BE-84F30E32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5770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不适合高能创意或强促销战役。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925733-D54A-44F9-9853-32A0F7FE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14500"/>
            <a:ext cx="2190750" cy="4000500"/>
          </a:xfrm>
          <a:prstGeom xmlns:a="http://schemas.openxmlformats.org/drawingml/2006/main" prst="roundRect">
            <a:avLst>
              <a:gd name="adj" fmla="val 87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80B2CB-CBA2-447B-B196-B88CF965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95500"/>
            <a:ext cx="15811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6E6E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66ECEA-2AFC-4464-A65D-5FD157C4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290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D55E0C-A866-49C2-8446-36533663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719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86E338-32C5-4720-8539-51BE8C92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1480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08B4F1-6F29-4C8C-A42D-0E13349C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77736C"/>
                </a:solidFill>
              </a:defRPr>
            </a:pPr>
            <a:r>
              <a:rPr sz="600" b="0">
                <a:solidFill>
                  <a:srgbClr val="77736C"/>
                </a:solidFill>
              </a:rPr>
              <a:t>proposal-ppt deep style system demo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505A98-65B9-4ADE-8E28-D5D34D8B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7736C"/>
                </a:solidFill>
              </a:defRPr>
            </a:pPr>
            <a:r>
              <a:rPr sz="675" b="0">
                <a:solidFill>
                  <a:srgbClr val="77736C"/>
                </a:solidFill>
              </a:rPr>
              <a:t>10A / 34</a:t>
            </a:r>
          </a:p>
        </p:txBody>
      </p:sp>
    </p:spTree>
    <p:extLst>
      <p:ext uri="{BB962C8B-B14F-4D97-AF65-F5344CB8AC3E}">
        <p14:creationId xmlns:p14="http://schemas.microsoft.com/office/powerpoint/2010/main" val="73615946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3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287E35-E32E-4AE0-A9F7-AE82A79E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像一本可阅读的提案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5379C4-15EA-422B-8439-54F6B0DF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阅读器风格的重点不是复古，而是让复杂逻辑慢下来。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3F909-E454-4B18-8865-6CF70136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4022EE-467D-4A09-AE84-79978501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Brief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50937D-C8F3-4B44-A18F-11CE167D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One clear line that can be read without a presenter.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EABAEF-DF0B-4CF2-8370-E057A05A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Judgment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7C341-A0A1-44BF-8168-5179519E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481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One clear line that can be read without a presenter.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C77650-1527-4A0A-AD3A-0CA784B5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F02BF8-E29A-4C99-A691-14FBFF49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672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One clear line that can be read without a presenter.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69F53E-2E78-4BB4-9DEA-AD832418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Decision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7B306-7580-4ADD-A249-9EF683C9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863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One clear line that can be read without a presenter.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749D98-A563-4D1D-8418-D1BDEA85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047750"/>
            <a:ext cx="2286000" cy="4381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7E3D8"/>
          </a:solidFill>
          <a:ln xmlns:a="http://schemas.openxmlformats.org/drawingml/2006/main" w="9525">
            <a:solidFill>
              <a:srgbClr val="BCB7A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E00282-B8BC-476F-9243-49D8D335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77736C"/>
                </a:solidFill>
              </a:defRPr>
            </a:pPr>
            <a:r>
              <a:rPr sz="600" b="0">
                <a:solidFill>
                  <a:srgbClr val="77736C"/>
                </a:solidFill>
              </a:rPr>
              <a:t>proposal-ppt deep style system demo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3DD949-3D55-4797-824A-824DE54F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7736C"/>
                </a:solidFill>
              </a:defRPr>
            </a:pPr>
            <a:r>
              <a:rPr sz="675" b="0">
                <a:solidFill>
                  <a:srgbClr val="77736C"/>
                </a:solidFill>
              </a:rPr>
              <a:t>10B / 34</a:t>
            </a:r>
          </a:p>
        </p:txBody>
      </p:sp>
    </p:spTree>
    <p:extLst>
      <p:ext uri="{BB962C8B-B14F-4D97-AF65-F5344CB8AC3E}">
        <p14:creationId xmlns:p14="http://schemas.microsoft.com/office/powerpoint/2010/main" val="89156126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3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941CFA-F450-463F-B03A-22B45367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Research 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02BE93-3AF1-4427-9E36-1C1FF179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8105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BCB7A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F0C743-26DE-4C13-8B7E-CED20785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478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Source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3D555E-6877-43F8-9B84-7CE5F2D1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52600"/>
            <a:ext cx="1257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CD4EA4-EC86-48EB-BC30-686B21AA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4478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Method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1AC44-E4A9-433A-9F7D-2683B88F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52600"/>
            <a:ext cx="1257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E7FF8D-E0B4-42DE-A9B2-6EFB3279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4478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Finding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11E310-A0DC-4E82-AB39-8AB677EF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52600"/>
            <a:ext cx="1257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56BDAA-FEC9-4C32-9DE5-F95F325B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4478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Implication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56B542-C69B-4F8F-8458-19FE4730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52600"/>
            <a:ext cx="1257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00E63C-217E-4367-BCF2-68F647FB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1D6CE0-87FE-4DB8-B3DA-2383487D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08D5F1-E774-4ABF-83A8-2511B4A3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99E420-B2B3-46B3-A0F6-AF82F7ED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FD8E14-60A2-4445-8603-246D4009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719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636C79-06CB-4359-9129-691B2B2B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5621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边栏结论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50CA27-C36D-487E-8C17-077D2D8F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8120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研究型页面允许安静，但不允许没有结论。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9A9A4E-38A5-4D4F-8342-F917B1A1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77736C"/>
                </a:solidFill>
              </a:defRPr>
            </a:pPr>
            <a:r>
              <a:rPr sz="600" b="0">
                <a:solidFill>
                  <a:srgbClr val="77736C"/>
                </a:solidFill>
              </a:rPr>
              <a:t>proposal-ppt deep style system demo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AEE2C3-F05D-48F8-A93C-0C169B9C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7736C"/>
                </a:solidFill>
              </a:defRPr>
            </a:pPr>
            <a:r>
              <a:rPr sz="675" b="0">
                <a:solidFill>
                  <a:srgbClr val="77736C"/>
                </a:solidFill>
              </a:rPr>
              <a:t>10C / 34</a:t>
            </a:r>
          </a:p>
        </p:txBody>
      </p:sp>
    </p:spTree>
    <p:extLst>
      <p:ext uri="{BB962C8B-B14F-4D97-AF65-F5344CB8AC3E}">
        <p14:creationId xmlns:p14="http://schemas.microsoft.com/office/powerpoint/2010/main" val="174378264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161B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A8CE3D-72A0-442E-859C-93A64E85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D185"/>
                </a:solidFill>
              </a:defRPr>
            </a:pPr>
            <a:r>
              <a:rPr sz="900" b="1">
                <a:solidFill>
                  <a:srgbClr val="59D185"/>
                </a:solidFill>
              </a:rPr>
              <a:t>DNA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BA0BA-01F2-478B-9AB1-0BD88B78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2E8"/>
                </a:solidFill>
              </a:defRPr>
            </a:pPr>
            <a:r>
              <a:rPr sz="2850" b="1">
                <a:solidFill>
                  <a:srgbClr val="F4F2E8"/>
                </a:solidFill>
              </a:rPr>
              <a:t>Pixel Retro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3AACA8-BF3C-4780-A76F-A8515203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8C0CC"/>
                </a:solidFill>
              </a:defRPr>
            </a:pPr>
            <a:r>
              <a:rPr sz="1125" b="0">
                <a:solidFill>
                  <a:srgbClr val="B8C0CC"/>
                </a:solidFill>
              </a:rPr>
              <a:t>像素风：低分辨率、网格约束、有限色盘、游戏化任务。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32217B-E159-47B0-A914-56111B58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495300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8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01A780-8C4F-453B-90B9-BB1706A8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431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F2E8"/>
                </a:solidFill>
              </a:defRPr>
            </a:pPr>
            <a:r>
              <a:rPr sz="1200" b="1">
                <a:solidFill>
                  <a:srgbClr val="F4F2E8"/>
                </a:solidFill>
              </a:rPr>
              <a:t>Style grammar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E1EBD8-6475-465E-9FC7-DD16D077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28FDE-6803-4527-B457-E39CDAC1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051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8C0CC"/>
                </a:solidFill>
              </a:defRPr>
            </a:pPr>
            <a:r>
              <a:rPr sz="900" b="0">
                <a:solidFill>
                  <a:srgbClr val="B8C0CC"/>
                </a:solidFill>
              </a:rPr>
              <a:t>所有图形对齐像素网格，避免半透明柔光。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AF1E0-1F8C-48CF-8616-A946D7AC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19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A098AA-3403-45CD-B562-B276303C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8C0CC"/>
                </a:solidFill>
              </a:defRPr>
            </a:pPr>
            <a:r>
              <a:rPr sz="900" b="0">
                <a:solidFill>
                  <a:srgbClr val="B8C0CC"/>
                </a:solidFill>
              </a:rPr>
              <a:t>限制色盘，使用块状形状和等宽字体。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83706D-6747-4A59-B0FD-E15AEFCB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576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C15FDF-62B3-4BCD-9391-702E8F5D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814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8C0CC"/>
                </a:solidFill>
              </a:defRPr>
            </a:pPr>
            <a:r>
              <a:rPr sz="900" b="0">
                <a:solidFill>
                  <a:srgbClr val="B8C0CC"/>
                </a:solidFill>
              </a:rPr>
              <a:t>适合年轻化、游戏化、互动机制、创意页。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53B7CE-AA4F-4155-AF94-E004F04E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6D1ED4-AFFE-4600-B5A0-873D807C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195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8C0CC"/>
                </a:solidFill>
              </a:defRPr>
            </a:pPr>
            <a:r>
              <a:rPr sz="900" b="0">
                <a:solidFill>
                  <a:srgbClr val="B8C0CC"/>
                </a:solidFill>
              </a:rPr>
              <a:t>正文页必须减少像素装饰以保证阅读。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1B687A-8B5C-4765-825B-6647B209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23812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59D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7D5EE8-4C37-4CEC-9CA9-544542B8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241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Use for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034308-07FD-494B-9D7E-13A78E8A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05100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游戏化 / 青年文化 / 互动创意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42DDD9-0BAD-4030-A113-7637D1E2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67150"/>
            <a:ext cx="23812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DDD8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87BFFB-90D2-41D4-BEDE-50884979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148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9D185"/>
                </a:solidFill>
              </a:defRPr>
            </a:pPr>
            <a:r>
              <a:rPr sz="975" b="1">
                <a:solidFill>
                  <a:srgbClr val="59D185"/>
                </a:solidFill>
              </a:rPr>
              <a:t>Avoid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C9283E-606F-439C-B83D-70A39185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5770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8C0CC"/>
                </a:solidFill>
              </a:defRPr>
            </a:pPr>
            <a:r>
              <a:rPr sz="975" b="0">
                <a:solidFill>
                  <a:srgbClr val="B8C0CC"/>
                </a:solidFill>
              </a:rPr>
              <a:t>不要用在严肃报价和法务边界页。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176499-E37B-4E96-9B29-7C7A05A8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14500"/>
            <a:ext cx="2190750" cy="4000500"/>
          </a:xfrm>
          <a:prstGeom xmlns:a="http://schemas.openxmlformats.org/drawingml/2006/main" prst="roundRect">
            <a:avLst>
              <a:gd name="adj" fmla="val 870"/>
            </a:avLst>
          </a:prstGeom>
          <a:solidFill xmlns:a="http://schemas.openxmlformats.org/drawingml/2006/main">
            <a:srgbClr val="F4F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A29138-158A-42AE-AD6C-1E9053A6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95500"/>
            <a:ext cx="15811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59D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15BA8C-C69A-4B82-87EE-78D016AD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290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9E996F-A2B6-448A-8B6F-1470EF03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719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C955D1-B89A-47C5-B8C0-4F6E3958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1480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EEDC44-20B2-4B43-BF55-54A3E24E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7F8A97"/>
                </a:solidFill>
              </a:defRPr>
            </a:pPr>
            <a:r>
              <a:rPr sz="600" b="0">
                <a:solidFill>
                  <a:srgbClr val="7F8A97"/>
                </a:solidFill>
              </a:rPr>
              <a:t>proposal-ppt deep style system demo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EB41E4-5BA1-4A34-A9A5-0980DD1F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F8A97"/>
                </a:solidFill>
              </a:defRPr>
            </a:pPr>
            <a:r>
              <a:rPr sz="675" b="0">
                <a:solidFill>
                  <a:srgbClr val="7F8A97"/>
                </a:solidFill>
              </a:rPr>
              <a:t>11A / 34</a:t>
            </a:r>
          </a:p>
        </p:txBody>
      </p:sp>
    </p:spTree>
    <p:extLst>
      <p:ext uri="{BB962C8B-B14F-4D97-AF65-F5344CB8AC3E}">
        <p14:creationId xmlns:p14="http://schemas.microsoft.com/office/powerpoint/2010/main" val="85802131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161B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FE0E6A-4F64-45E9-9A30-6375F30B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2E3928-E070-4E7C-8AA5-07BBA220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01D19E-EFE1-4E3E-ACC8-3FF9D0C6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30AF94-134C-4BB4-B82C-35CD36A1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7ED14A-28A2-4B3B-B129-0F312613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9FE63B-E62D-4C06-BF31-AD0E88BF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E3BAB6-6DF3-43F6-9014-D35F5555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28FC92-94A0-48F8-ABA9-EBD0C7E6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1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53B5EE-E123-4758-B7E1-07136958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1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4ABE2D-846B-41E2-8412-EA90BCFE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1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775AA3-5388-4828-B420-BDFE2317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1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0BF2FB-84FB-45E1-AD4E-49A5B372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1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53394D-67DD-431F-A340-05ABF135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856686-59FE-4F00-A1B5-3C88849B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62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53FD48-862D-448B-A160-3400F926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62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929F6C-D1B9-4E13-891B-F94D764B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62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D9F0F2-7EEB-4EFA-B2F1-56555B6F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762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32A1D9-80DB-489D-90A6-D1F1CA76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762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508A35-1C0C-4C58-9A22-C71DBA7E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62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3E3090-C31C-4AAA-A11C-5DC65301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3EFF8C-DB22-4C09-8F6A-F4BF5CB7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43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3412E2-8C14-495F-BAD5-767C570A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143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9B8D2B-8E88-4D2E-A691-E60B1478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143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AF5820-1868-4FAF-81C9-B7E5DDF6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143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72839D-40EB-4890-91FB-4B9C6EF1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143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041CF2-73DF-4B5E-B292-08890EDC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59E763-D09F-45CA-85E4-BBE7D184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524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4B6EF8-EFC3-4D6F-B421-55C41D4E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24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A9F02C-9090-4A3A-90F3-377D2B05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C404F2-5DBB-4010-91AB-58E7EF9F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24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951E73-4C4F-4DDE-988B-D46EFFF9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24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FD7E53-7434-49A8-B00C-4A93C713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1524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5862E4-C3F1-41D2-8200-275436E7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FE7644-3A66-47B5-A8A0-84FF92BC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905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A42DE3-552B-41E9-90F1-D0BAC41E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05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3C9BF5-13D2-4B78-ACD2-C4E886BE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05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B8E9D7-6D25-4C91-AC99-83545F00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05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97D5EB-3EEF-4584-A81B-A96E390F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05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500328-97CC-49AF-9F8D-74C4DAD9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905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C40FC3-782B-481A-956F-7C58BF58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86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1E2DEE-71AB-431A-BC65-BC760BB3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86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5A20AE7-6EF6-4BCF-913C-B2FB7834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86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021C9B9-C511-4D89-8AE9-75C0A6A8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86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2BDDE2E-2801-41C0-9006-633599AB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86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C116F60-5E05-48A5-AC9E-59278299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718F05F-1E57-4F74-AA03-30E537B9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EFD2170-5D54-424D-A8BB-A88D87E7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67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11281F6-4D90-4336-8DFE-23068138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67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BB77F67-71FA-4DB8-A925-2682C923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67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AF0D498-39FA-4575-B4EF-C7AE42FF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67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141D376-8F75-449D-BC54-8EE9B500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67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1C33ED0-5F22-409F-B5AF-1AC09658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D67ABFB-363A-4AAB-AE79-47737009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48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D9E0297-3F41-4256-ABD1-F865F134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48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DFF2F2D-C4A6-4A16-B41D-D7D59F54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D1614EC-4B82-4EBA-BC1D-0CF768BC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48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8C23108-8FCB-40F5-968A-D392B107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2C8A516-A8F2-4EC6-AD30-B8215B73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29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63087BB-A7C5-4736-8DC5-F5E30D8D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E0F2C79-9DED-4BE4-8DDE-268F9AC9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29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6125CAD-08C8-437E-8212-18C7B2D2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29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B91E9E9-4928-4DC7-8DB0-1CBC1943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392AAC7-6A39-4BB6-8D23-6860951E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54F6CB9-0744-4723-8580-76E7C76D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429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3B94C30-7273-4F88-A172-5F2C4AC5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C76B7B2-9C73-4835-8188-99C0FB83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10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9A8F84E-8E3F-42F3-A6AA-99F1B9B0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10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A7FEE67-9570-498E-B26C-3F99F443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10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599943C-CA6C-4F44-A936-BCE03538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10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04D5329-0F08-4C71-B516-7B6CC403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10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829ABC1-5B82-41BB-959F-AA809AF2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810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C3CEA94-EFD8-472F-B2B4-AC4DA51A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91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24DAA88-3604-46C5-8BA8-A982318D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91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5C176DF-A703-404B-A3D4-7851504D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91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17D6B09-4D78-48E6-8650-AE82F068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91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3F7D9BE-EAEF-4020-B9BF-8CD790E8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91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8B62169-1998-4CEF-940C-5300DED8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A503429-68C4-4CA4-9C84-0153D27F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60F7BB3-924F-43A5-9A5B-3FFB47F5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72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8472A15-301A-470B-9693-44BBF348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72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3145D16-D7AC-41C8-8711-27AF93DA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72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3E204BA-8540-4DFE-85DA-5E09D970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72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B6BA577-657B-4200-8AC4-1CBFA1F8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81C12EB-7AA2-4BFF-B758-A5ACC9B3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F06A24A-D46D-48EE-81C9-402A82E1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53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2C22A7B-125F-4866-9B53-3BC50C8C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53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8BB1FF5-688D-44C5-A024-9EB97E94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53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B48866F-1102-4504-9292-8B520801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53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F6B7BD7-9EB9-4A97-9C7B-B6114877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953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3ED084B-481E-4D08-A801-38EF7AD7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34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3EAE389-E1DE-4598-BE71-64945E39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334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149AE3B-2893-42BD-8308-8A188D64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34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0099683-E5BF-44D5-8E28-557274C0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34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1D1132B-BADB-4620-81A3-35F43390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334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F4A9E34-9DF1-414A-9B33-2CE71B28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334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A733168-8EA5-4883-B667-D29B4F72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334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A1B73D3-0082-4051-BAED-CFF870A8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8F96332-1EB4-418A-88A6-081F4467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715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009306B-BBF0-41E1-863A-9FB6A489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715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8476CC0-61C7-4969-BD3E-DE3FC20E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715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652CE2D-D4E9-4F72-8570-73CD2D37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715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0F74135-50B7-4778-992B-A556DA66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715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692531D-818F-4CA4-B5B2-8C396F71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715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67D30C9-2F08-4AD7-A5F1-F57BBDBE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096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648ADE1-6B54-41FA-91DC-3D18EF18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096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523C010-63D3-4E0E-9D26-D1788BBA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096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8CBA356-468C-4A13-B617-51589B33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96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6C9921D-7A5C-42EE-A4E8-1C963593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096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255F684-A05A-4521-A006-2341EC16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62B2B57-E172-469A-A8CE-0CA1BEBA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77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7BF302A-6DBE-4A3C-9EC4-7A75F6D6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77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654E999-0D13-4F18-B8FA-A699ACDA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77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1C90BFE-C999-4007-AFBA-B4B2234E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77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A7D5FF1-C613-48E7-9C70-14B2BB83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77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C822F81-F686-421F-AC5B-F38FB985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5FF87AA-CC45-406B-83D4-08B1E689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59D185"/>
                </a:solidFill>
              </a:defRPr>
            </a:pPr>
            <a:r>
              <a:rPr sz="2850" b="1">
                <a:solidFill>
                  <a:srgbClr val="59D185"/>
                </a:solidFill>
              </a:rPr>
              <a:t>PIXEL RETRO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CAB7578-60D4-4FD1-9E66-412C1A25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2E8"/>
                </a:solidFill>
              </a:defRPr>
            </a:pPr>
            <a:r>
              <a:rPr sz="2250" b="1">
                <a:solidFill>
                  <a:srgbClr val="F4F2E8"/>
                </a:solidFill>
              </a:rPr>
              <a:t>把复杂任务变成清晰关卡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55ED0F7-E98F-4C7D-BA90-E0DC1A16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1809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8420784-1AB3-411A-A308-3A84C022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1B22"/>
                </a:solidFill>
              </a:defRPr>
            </a:pPr>
            <a:r>
              <a:rPr sz="1200" b="1">
                <a:solidFill>
                  <a:srgbClr val="161B22"/>
                </a:solidFill>
              </a:rPr>
              <a:t>LEVEL 01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8761904-57A3-4942-A557-E9DE213C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71750"/>
            <a:ext cx="1809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9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A021A62-4194-4229-9520-E9C4F1D1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575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1B22"/>
                </a:solidFill>
              </a:defRPr>
            </a:pPr>
            <a:r>
              <a:rPr sz="1200" b="1">
                <a:solidFill>
                  <a:srgbClr val="161B22"/>
                </a:solidFill>
              </a:rPr>
              <a:t>BOSS RISK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877F186-0BE7-4FE0-A318-9687EB32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71750"/>
            <a:ext cx="1809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CB6195A-17DF-4812-AED5-819EB94A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575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1B22"/>
                </a:solidFill>
              </a:defRPr>
            </a:pPr>
            <a:r>
              <a:rPr sz="1200" b="1">
                <a:solidFill>
                  <a:srgbClr val="161B22"/>
                </a:solidFill>
              </a:rPr>
              <a:t>REWARD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7B3FEFD-2ED1-4FB2-B546-98DA0BCD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14550"/>
            <a:ext cx="3238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1B29"/>
          </a:solidFill>
          <a:ln xmlns:a="http://schemas.openxmlformats.org/drawingml/2006/main" w="9525">
            <a:solidFill>
              <a:srgbClr val="30394A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65870A4-1DE5-4D93-A7F3-B39A7854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1455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78C8C3C-9494-402E-9C20-06D4DA55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1932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9D185"/>
                </a:solidFill>
              </a:defRPr>
            </a:pPr>
            <a:r>
              <a:rPr sz="750" b="1">
                <a:solidFill>
                  <a:srgbClr val="59D185"/>
                </a:solidFill>
              </a:rPr>
              <a:t>01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071B5A4-CBD3-4152-BAC7-80EC4DE5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098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客户问题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2391D1A-A995-4B22-9838-930F3AF4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19325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8CC"/>
                </a:solidFill>
              </a:defRPr>
            </a:pPr>
            <a:r>
              <a:rPr sz="750" b="0">
                <a:solidFill>
                  <a:srgbClr val="AEB8CC"/>
                </a:solidFill>
              </a:rPr>
              <a:t>one verifiable commitment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6308468-2B2D-4C31-9F89-9EDF476F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09850"/>
            <a:ext cx="3238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1B29"/>
          </a:solidFill>
          <a:ln xmlns:a="http://schemas.openxmlformats.org/drawingml/2006/main" w="9525">
            <a:solidFill>
              <a:srgbClr val="30394A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536AA18-27D6-4C18-88C3-7A22B941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0985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79973A8-1D5C-4B9B-8151-0E90492A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1462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2C94C"/>
                </a:solidFill>
              </a:defRPr>
            </a:pPr>
            <a:r>
              <a:rPr sz="750" b="1">
                <a:solidFill>
                  <a:srgbClr val="F2C94C"/>
                </a:solidFill>
              </a:rPr>
              <a:t>02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8C5C092-9717-43B6-9493-29C07120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051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核心判断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0785317-8D68-485D-8816-04DC2F45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14625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8CC"/>
                </a:solidFill>
              </a:defRPr>
            </a:pPr>
            <a:r>
              <a:rPr sz="750" b="0">
                <a:solidFill>
                  <a:srgbClr val="AEB8CC"/>
                </a:solidFill>
              </a:rPr>
              <a:t>one verifiable commitment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04F08AD-D0D8-4398-98B8-DBDB0D25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05150"/>
            <a:ext cx="3238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1B29"/>
          </a:solidFill>
          <a:ln xmlns:a="http://schemas.openxmlformats.org/drawingml/2006/main" w="9525">
            <a:solidFill>
              <a:srgbClr val="30394A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1D97E6F3-90AD-4EAE-957C-08A11F6E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0515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9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0490DFC0-8CCD-40C9-8C64-441A307B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0992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2695C"/>
                </a:solidFill>
              </a:defRPr>
            </a:pPr>
            <a:r>
              <a:rPr sz="750" b="1">
                <a:solidFill>
                  <a:srgbClr val="F2695C"/>
                </a:solidFill>
              </a:rPr>
              <a:t>03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B3FB71B6-DD90-4AC9-8C5F-918A33F3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004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执行证据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8CA92D4-3F7A-4FEB-BA65-3EB84E7A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09925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8CC"/>
                </a:solidFill>
              </a:defRPr>
            </a:pPr>
            <a:r>
              <a:rPr sz="750" b="0">
                <a:solidFill>
                  <a:srgbClr val="AEB8CC"/>
                </a:solidFill>
              </a:rPr>
              <a:t>one verifiable commitment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E55D57F4-4FB8-49CB-841F-81D1E6C6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00450"/>
            <a:ext cx="3238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1B29"/>
          </a:solidFill>
          <a:ln xmlns:a="http://schemas.openxmlformats.org/drawingml/2006/main" w="9525">
            <a:solidFill>
              <a:srgbClr val="30394A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D100A669-8472-4AB2-8CDF-2927714C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0045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27E61B06-8D6C-40A5-895C-8F4174BA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0522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CA7D9"/>
                </a:solidFill>
              </a:defRPr>
            </a:pPr>
            <a:r>
              <a:rPr sz="750" b="1">
                <a:solidFill>
                  <a:srgbClr val="7CA7D9"/>
                </a:solidFill>
              </a:rPr>
              <a:t>04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F8E2BC1E-A486-437F-89C2-18502DF0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预算边界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BD4654A-3908-4C97-A3B2-8A814FC4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05225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8CC"/>
                </a:solidFill>
              </a:defRPr>
            </a:pPr>
            <a:r>
              <a:rPr sz="750" b="0">
                <a:solidFill>
                  <a:srgbClr val="AEB8CC"/>
                </a:solidFill>
              </a:rPr>
              <a:t>one verifiable commitment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7AB277DE-1983-40CF-A762-868B76AE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7F8A97"/>
                </a:solidFill>
              </a:defRPr>
            </a:pPr>
            <a:r>
              <a:rPr sz="600" b="0">
                <a:solidFill>
                  <a:srgbClr val="7F8A97"/>
                </a:solidFill>
              </a:rPr>
              <a:t>proposal-ppt deep style system demo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B58A60EB-D802-4461-B281-3F3918FA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F8A97"/>
                </a:solidFill>
              </a:defRPr>
            </a:pPr>
            <a:r>
              <a:rPr sz="675" b="0">
                <a:solidFill>
                  <a:srgbClr val="7F8A97"/>
                </a:solidFill>
              </a:rPr>
              <a:t>11B / 34</a:t>
            </a:r>
          </a:p>
        </p:txBody>
      </p:sp>
    </p:spTree>
    <p:extLst>
      <p:ext uri="{BB962C8B-B14F-4D97-AF65-F5344CB8AC3E}">
        <p14:creationId xmlns:p14="http://schemas.microsoft.com/office/powerpoint/2010/main" val="136054119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161B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B15809-CF54-4BAE-8697-D6A803D7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9D185"/>
                </a:solidFill>
              </a:defRPr>
            </a:pPr>
            <a:r>
              <a:rPr sz="2100" b="1">
                <a:solidFill>
                  <a:srgbClr val="59D185"/>
                </a:solidFill>
              </a:rPr>
              <a:t>QUEST 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33340F-6CEF-4960-9716-4A650965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19050">
            <a:solidFill>
              <a:srgbClr val="59D1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3ABB2E-589C-4EC4-896F-35A6488C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6192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4F2E8"/>
                </a:solidFill>
              </a:defRPr>
            </a:pPr>
            <a:r>
              <a:rPr sz="1050" b="1">
                <a:solidFill>
                  <a:srgbClr val="F4F2E8"/>
                </a:solidFill>
              </a:rPr>
              <a:t>TASK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3E4C1B-C781-41CD-8DC1-19446D05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38350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19F34F-8475-41E3-9440-DC533394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38350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08B985-9D37-42E9-B658-5D12ADE3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4287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19050">
            <a:solidFill>
              <a:srgbClr val="59D18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3DF7E5-5454-434D-B279-88B80691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192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4F2E8"/>
                </a:solidFill>
              </a:defRPr>
            </a:pPr>
            <a:r>
              <a:rPr sz="1050" b="1">
                <a:solidFill>
                  <a:srgbClr val="F4F2E8"/>
                </a:solidFill>
              </a:rPr>
              <a:t>TASK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4BEB93-9DE5-4F7F-801A-B6272113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038350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6DB55E-FD35-4642-A7AE-F27EA705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03835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8CF34F-FBE4-486D-A23D-A7365BCB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4287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19050">
            <a:solidFill>
              <a:srgbClr val="59D18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6A3D8E-6096-40CF-90B7-B769FDFB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6192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4F2E8"/>
                </a:solidFill>
              </a:defRPr>
            </a:pPr>
            <a:r>
              <a:rPr sz="1050" b="1">
                <a:solidFill>
                  <a:srgbClr val="F4F2E8"/>
                </a:solidFill>
              </a:rPr>
              <a:t>TASK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B1F7B2-9F3C-4844-918E-FE5E4F30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38350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AE0619-5177-4C38-AE5C-0736C7C4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38350"/>
            <a:ext cx="723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601824-16BA-4205-8591-D77F6BC1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19050">
            <a:solidFill>
              <a:srgbClr val="59D18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230017-979D-40D1-AC8B-81938912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4F2E8"/>
                </a:solidFill>
              </a:defRPr>
            </a:pPr>
            <a:r>
              <a:rPr sz="1050" b="1">
                <a:solidFill>
                  <a:srgbClr val="F4F2E8"/>
                </a:solidFill>
              </a:rPr>
              <a:t>TASK 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82D1D8-8467-430E-93D1-DC5018A5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95700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A9C2E3-0611-4836-B181-8D16D736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95700"/>
            <a:ext cx="895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F9EC0C-3484-4E18-A972-04CB8CC3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8610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19050">
            <a:solidFill>
              <a:srgbClr val="59D18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49FDBD-AD56-484D-A7A0-32CC8B2D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2766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4F2E8"/>
                </a:solidFill>
              </a:defRPr>
            </a:pPr>
            <a:r>
              <a:rPr sz="1050" b="1">
                <a:solidFill>
                  <a:srgbClr val="F4F2E8"/>
                </a:solidFill>
              </a:rPr>
              <a:t>TASK 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F3F209-38AC-4EC0-8361-B5EE6678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695700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B26ACF-BC3C-45D0-B50E-CE33FCB2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695700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2FB7C9-8D3B-4FA5-ADAA-9B363A7C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8610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19050">
            <a:solidFill>
              <a:srgbClr val="59D18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058D5C-89C1-418A-AEA9-683EDAD3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766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4F2E8"/>
                </a:solidFill>
              </a:defRPr>
            </a:pPr>
            <a:r>
              <a:rPr sz="1050" b="1">
                <a:solidFill>
                  <a:srgbClr val="F4F2E8"/>
                </a:solidFill>
              </a:rPr>
              <a:t>TASK 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662BF1-275B-41C4-A3AA-215E048D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695700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63F6FF-5A8A-4318-87D6-3E6C68B9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695700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A6E2E9-6E76-4EF5-BEBA-D14BE808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7F8A97"/>
                </a:solidFill>
              </a:defRPr>
            </a:pPr>
            <a:r>
              <a:rPr sz="600" b="0">
                <a:solidFill>
                  <a:srgbClr val="7F8A97"/>
                </a:solidFill>
              </a:rPr>
              <a:t>proposal-ppt deep style system demo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5C856E-75AB-4FED-9564-9BC6F63A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F8A97"/>
                </a:solidFill>
              </a:defRPr>
            </a:pPr>
            <a:r>
              <a:rPr sz="675" b="0">
                <a:solidFill>
                  <a:srgbClr val="7F8A97"/>
                </a:solidFill>
              </a:rPr>
              <a:t>11C / 34</a:t>
            </a:r>
          </a:p>
        </p:txBody>
      </p:sp>
    </p:spTree>
    <p:extLst>
      <p:ext uri="{BB962C8B-B14F-4D97-AF65-F5344CB8AC3E}">
        <p14:creationId xmlns:p14="http://schemas.microsoft.com/office/powerpoint/2010/main" val="95614482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90B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3E28C6-AF01-47EA-AF7D-8F410830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F7FF"/>
                </a:solidFill>
              </a:defRPr>
            </a:pPr>
            <a:r>
              <a:rPr sz="900" b="1">
                <a:solidFill>
                  <a:srgbClr val="66F7FF"/>
                </a:solidFill>
              </a:rPr>
              <a:t>DNA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46AE15-969B-4E1C-8ECB-F6FDC1A2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Web3 Neo Glass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CF9799-E00D-4E24-A0D3-3C366687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6D3"/>
                </a:solidFill>
              </a:defRPr>
            </a:pPr>
            <a:r>
              <a:rPr sz="1125" b="0">
                <a:solidFill>
                  <a:srgbClr val="A9B6D3"/>
                </a:solidFill>
              </a:rPr>
              <a:t>Web3 科技：深色空间、霓虹节点、玻璃卡片、资产路径。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CA55B-AD36-4FC1-938B-1058097A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495300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11172A"/>
          </a:solidFill>
          <a:ln xmlns:a="http://schemas.openxmlformats.org/drawingml/2006/main" w="9525">
            <a:solidFill>
              <a:srgbClr val="2730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3C4C9-538E-4B40-B743-AF9EFB28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431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Style grammar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7B9482-EA84-488A-B64D-DE47FBF5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155A2E-21A5-423C-9516-9880BCF6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051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9B6D3"/>
                </a:solidFill>
              </a:defRPr>
            </a:pPr>
            <a:r>
              <a:rPr sz="900" b="0">
                <a:solidFill>
                  <a:srgbClr val="A9B6D3"/>
                </a:solidFill>
              </a:rPr>
              <a:t>深色背景需要网格或空间感，不是纯黑。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3DB21C-BB66-4A69-9C33-9D4BA1EE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19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BE0548-9143-41BF-A7B0-64F35F26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9B6D3"/>
                </a:solidFill>
              </a:defRPr>
            </a:pPr>
            <a:r>
              <a:rPr sz="900" b="0">
                <a:solidFill>
                  <a:srgbClr val="A9B6D3"/>
                </a:solidFill>
              </a:rPr>
              <a:t>霓虹只强调节点、资产、路径和风险。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6C2F25-D1D3-4A19-A2E6-A7382198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576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10FA49-C5BC-4649-9932-D098C31F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814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9B6D3"/>
                </a:solidFill>
              </a:defRPr>
            </a:pPr>
            <a:r>
              <a:rPr sz="900" b="0">
                <a:solidFill>
                  <a:srgbClr val="A9B6D3"/>
                </a:solidFill>
              </a:rPr>
              <a:t>卡片要像半透明界面，但文字对比必须足够。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C00730-17E2-4DCA-AA7B-D3899180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06A696-93A1-4888-B5FC-93B82148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195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9B6D3"/>
                </a:solidFill>
              </a:defRPr>
            </a:pPr>
            <a:r>
              <a:rPr sz="900" b="0">
                <a:solidFill>
                  <a:srgbClr val="A9B6D3"/>
                </a:solidFill>
              </a:rPr>
              <a:t>适合 Web3、数字货币、科技金融、AI 交易系统。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A1FA43-472C-4E1E-84D0-97C85993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23812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66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5112E5-6F05-449F-AD13-17E5C4B7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241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90B18"/>
                </a:solidFill>
              </a:defRPr>
            </a:pPr>
            <a:r>
              <a:rPr sz="975" b="1">
                <a:solidFill>
                  <a:srgbClr val="090B18"/>
                </a:solidFill>
              </a:rPr>
              <a:t>Use for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4E9D5E-50C5-46E9-9153-44972CE4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05100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90B18"/>
                </a:solidFill>
              </a:defRPr>
            </a:pPr>
            <a:r>
              <a:rPr sz="1275" b="1">
                <a:solidFill>
                  <a:srgbClr val="090B18"/>
                </a:solidFill>
              </a:rPr>
              <a:t>Web3 / 科技金融 / AI 平台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9592CF-85EB-4A5A-A158-ED848578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67150"/>
            <a:ext cx="23812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11172A"/>
          </a:solidFill>
          <a:ln xmlns:a="http://schemas.openxmlformats.org/drawingml/2006/main" w="9525">
            <a:solidFill>
              <a:srgbClr val="2730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0BDB97-A883-4253-9D07-388F79AF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148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6F7FF"/>
                </a:solidFill>
              </a:defRPr>
            </a:pPr>
            <a:r>
              <a:rPr sz="975" b="1">
                <a:solidFill>
                  <a:srgbClr val="66F7FF"/>
                </a:solidFill>
              </a:rPr>
              <a:t>Avoid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D1404D-4976-4CEF-8CA5-B83593DA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5770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9B6D3"/>
                </a:solidFill>
              </a:defRPr>
            </a:pPr>
            <a:r>
              <a:rPr sz="975" b="0">
                <a:solidFill>
                  <a:srgbClr val="A9B6D3"/>
                </a:solidFill>
              </a:rPr>
              <a:t>不要让炫光盖过风险和合规边界。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A70A1A-A594-4D82-B17F-2DC70B3E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14500"/>
            <a:ext cx="2190750" cy="4000500"/>
          </a:xfrm>
          <a:prstGeom xmlns:a="http://schemas.openxmlformats.org/drawingml/2006/main" prst="roundRect">
            <a:avLst>
              <a:gd name="adj" fmla="val 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53C9CD-EDA0-4286-854F-49EDB812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95500"/>
            <a:ext cx="15811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66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BB2772-F420-4FF8-90B3-4C886CD3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290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6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E113C5-8229-4FDC-980B-B199639E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719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6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78302C-F9A4-467A-89D3-138C6DB7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1480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6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4EDB44-C33E-4BC0-A0A6-34100B2C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7A86A8"/>
                </a:solidFill>
              </a:defRPr>
            </a:pPr>
            <a:r>
              <a:rPr sz="600" b="0">
                <a:solidFill>
                  <a:srgbClr val="7A86A8"/>
                </a:solidFill>
              </a:rPr>
              <a:t>proposal-ppt deep style system demo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10E72B-91D5-4341-BCEF-3B281696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6A8"/>
                </a:solidFill>
              </a:defRPr>
            </a:pPr>
            <a:r>
              <a:rPr sz="675" b="0">
                <a:solidFill>
                  <a:srgbClr val="7A86A8"/>
                </a:solidFill>
              </a:rPr>
              <a:t>12A / 34</a:t>
            </a:r>
          </a:p>
        </p:txBody>
      </p:sp>
    </p:spTree>
    <p:extLst>
      <p:ext uri="{BB962C8B-B14F-4D97-AF65-F5344CB8AC3E}">
        <p14:creationId xmlns:p14="http://schemas.microsoft.com/office/powerpoint/2010/main" val="125992762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90B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89B181-07C4-44EB-8802-2846BD3B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63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1FB64C-7F74-4E71-B233-CBC81F30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763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31314A-12EB-4255-B27C-E4BB426F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8763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213289-13A6-4675-9DF1-6A5307E6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763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5DC1B6-659C-4A41-945B-99F4A7DC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8763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20B18E-E8D7-48EC-8416-6F16AFB7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8763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956A1-E42F-4A62-B853-060AFD08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763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EB916A-4678-43C5-A61D-12E69F3B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763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88A406-C7D8-464D-8E10-477FFF32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8763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37A7BE-6712-49A6-AEFD-23F5704C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5891A0-1BEB-43E0-8B50-72893FAE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D531DA-4DEB-42E1-9E16-94C8AF4C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9E26A5-2A98-41F3-9DD6-7DC0D896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E018F5-3F85-4733-8E51-696140DF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F59DE5-C719-4E06-B154-35148A76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把信任机制、资产路径和风险边界可视化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A505C3-0049-42FF-BB01-B17854C7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6D3"/>
                </a:solidFill>
              </a:defRPr>
            </a:pPr>
            <a:r>
              <a:rPr sz="1125" b="0">
                <a:solidFill>
                  <a:srgbClr val="A9B6D3"/>
                </a:solidFill>
              </a:rPr>
              <a:t>Web3 风格必须把合规和风险写清楚，否则只剩科技皮肤。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DF6848-665F-49BD-BCF2-53FC935A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621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6306B0-56A5-46E4-ABF7-F2C37C6F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860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0B18"/>
                </a:solidFill>
              </a:defRPr>
            </a:pPr>
            <a:r>
              <a:rPr sz="900" b="1">
                <a:solidFill>
                  <a:srgbClr val="090B18"/>
                </a:solidFill>
              </a:rPr>
              <a:t>Trust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1C89FD-9738-474E-922A-8801AB32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194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8176A0-337D-4B71-8684-B2F66274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433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0B18"/>
                </a:solidFill>
              </a:defRPr>
            </a:pPr>
            <a:r>
              <a:rPr sz="900" b="1">
                <a:solidFill>
                  <a:srgbClr val="090B18"/>
                </a:solidFill>
              </a:rPr>
              <a:t>Wallet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821F8F-855A-4694-9BDD-DAFC62D9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76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2AD8B4-800E-4820-8D19-5876C166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006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0B18"/>
                </a:solidFill>
              </a:defRPr>
            </a:pPr>
            <a:r>
              <a:rPr sz="900" b="1">
                <a:solidFill>
                  <a:srgbClr val="090B18"/>
                </a:solidFill>
              </a:rPr>
              <a:t>Risk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A18F32-6D7E-4ABB-834C-E44F1322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194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A3A075-F22B-4C82-AE63-1E9672B9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433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0B18"/>
                </a:solidFill>
              </a:defRPr>
            </a:pPr>
            <a:r>
              <a:rPr sz="900" b="1">
                <a:solidFill>
                  <a:srgbClr val="090B18"/>
                </a:solidFill>
              </a:rPr>
              <a:t>Proof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1B163B-C8D0-4777-AECB-4C801E41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3429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1B29"/>
          </a:solidFill>
          <a:ln xmlns:a="http://schemas.openxmlformats.org/drawingml/2006/main" w="9525">
            <a:solidFill>
              <a:srgbClr val="3039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DE3AA9-F129-4167-821E-DF743B01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94BBA1-97F9-41CB-92DE-FB11ABF8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9572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6F7FF"/>
                </a:solidFill>
              </a:defRPr>
            </a:pPr>
            <a:r>
              <a:rPr sz="750" b="1">
                <a:solidFill>
                  <a:srgbClr val="66F7FF"/>
                </a:solidFill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1B6FA6-37AB-4867-9F8D-242C49BB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862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客户问题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F6B85C-9A2C-41D5-AF93-8C02DA62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95725"/>
            <a:ext cx="1504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8CC"/>
                </a:solidFill>
              </a:defRPr>
            </a:pPr>
            <a:r>
              <a:rPr sz="750" b="0">
                <a:solidFill>
                  <a:srgbClr val="AEB8CC"/>
                </a:solidFill>
              </a:rPr>
              <a:t>one verifiable commitment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CBD2BE-C51E-4A43-92BE-CD10776E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3429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1B29"/>
          </a:solidFill>
          <a:ln xmlns:a="http://schemas.openxmlformats.org/drawingml/2006/main" w="9525">
            <a:solidFill>
              <a:srgbClr val="3039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34499A-CED5-43B4-B2CE-B652D43F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17DDED-9166-42A1-B393-E5FF0150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9102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8A5CFF"/>
                </a:solidFill>
              </a:defRPr>
            </a:pPr>
            <a:r>
              <a:rPr sz="750" b="1">
                <a:solidFill>
                  <a:srgbClr val="8A5CFF"/>
                </a:solidFill>
              </a:rPr>
              <a:t>02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6B1276-45B2-4890-A7AF-0E07FDDD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815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核心判断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657261-787E-49A3-8E25-553CD87B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91025"/>
            <a:ext cx="1504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8CC"/>
                </a:solidFill>
              </a:defRPr>
            </a:pPr>
            <a:r>
              <a:rPr sz="750" b="0">
                <a:solidFill>
                  <a:srgbClr val="AEB8CC"/>
                </a:solidFill>
              </a:rPr>
              <a:t>one verifiable commitment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CE769D-954E-45F8-93D7-154661FE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3429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1B29"/>
          </a:solidFill>
          <a:ln xmlns:a="http://schemas.openxmlformats.org/drawingml/2006/main" w="9525">
            <a:solidFill>
              <a:srgbClr val="3039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C357F1-7423-4671-BF68-6305EDD3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0DDE41-9861-4A1E-AC20-CB85A703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8632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B7F000"/>
                </a:solidFill>
              </a:defRPr>
            </a:pPr>
            <a:r>
              <a:rPr sz="750" b="1">
                <a:solidFill>
                  <a:srgbClr val="B7F000"/>
                </a:solidFill>
              </a:rPr>
              <a:t>03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318A65-ACDA-443D-9D56-4BB14193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768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执行证据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A8404B-28E9-41BE-B0C3-397FB2F6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86325"/>
            <a:ext cx="1504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8CC"/>
                </a:solidFill>
              </a:defRPr>
            </a:pPr>
            <a:r>
              <a:rPr sz="750" b="0">
                <a:solidFill>
                  <a:srgbClr val="AEB8CC"/>
                </a:solidFill>
              </a:rPr>
              <a:t>one verifiable commitment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3D7326-D07B-488D-AA69-0F665096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3429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1B29"/>
          </a:solidFill>
          <a:ln xmlns:a="http://schemas.openxmlformats.org/drawingml/2006/main" w="9525">
            <a:solidFill>
              <a:srgbClr val="30394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31BADE-B548-44C2-9186-384735B8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932F0F-5DBE-4DB2-A7F6-C328A1AA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8162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5C4D"/>
                </a:solidFill>
              </a:defRPr>
            </a:pPr>
            <a:r>
              <a:rPr sz="750" b="1">
                <a:solidFill>
                  <a:srgbClr val="FF5C4D"/>
                </a:solidFill>
              </a:rPr>
              <a:t>04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4DDFE00-7793-424F-A0FE-7F7F4EF9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721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预算边界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B1215CB-6F9F-4296-8F9B-BE6E9F67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81625"/>
            <a:ext cx="1504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8CC"/>
                </a:solidFill>
              </a:defRPr>
            </a:pPr>
            <a:r>
              <a:rPr sz="750" b="0">
                <a:solidFill>
                  <a:srgbClr val="AEB8CC"/>
                </a:solidFill>
              </a:rPr>
              <a:t>one verifiable commitment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352937C-AF5F-4637-A8B9-AA7756CB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7A86A8"/>
                </a:solidFill>
              </a:defRPr>
            </a:pPr>
            <a:r>
              <a:rPr sz="600" b="0">
                <a:solidFill>
                  <a:srgbClr val="7A86A8"/>
                </a:solidFill>
              </a:rPr>
              <a:t>proposal-ppt deep style system demo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AD7FA99-E2F3-4A5D-97DD-8C5F32DA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6A8"/>
                </a:solidFill>
              </a:defRPr>
            </a:pPr>
            <a:r>
              <a:rPr sz="675" b="0">
                <a:solidFill>
                  <a:srgbClr val="7A86A8"/>
                </a:solidFill>
              </a:rPr>
              <a:t>12B / 34</a:t>
            </a:r>
          </a:p>
        </p:txBody>
      </p:sp>
    </p:spTree>
    <p:extLst>
      <p:ext uri="{BB962C8B-B14F-4D97-AF65-F5344CB8AC3E}">
        <p14:creationId xmlns:p14="http://schemas.microsoft.com/office/powerpoint/2010/main" val="117102346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90B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A72040-6186-4895-AEBB-CBBC4B99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6F7FF"/>
                </a:solidFill>
              </a:defRPr>
            </a:pPr>
            <a:r>
              <a:rPr sz="1800" b="1">
                <a:solidFill>
                  <a:srgbClr val="66F7FF"/>
                </a:solidFill>
              </a:rPr>
              <a:t>Risk-aware glass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C24D1A-8287-4674-9C3B-BEFA159C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2190750" cy="32385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1172A"/>
          </a:solidFill>
          <a:ln xmlns:a="http://schemas.openxmlformats.org/drawingml/2006/main" w="9525">
            <a:solidFill>
              <a:srgbClr val="27304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1EFFA7-BC49-41F9-9063-A063E55C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0025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75C1BB-7ECB-43D9-9F6F-C96D98C4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62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Asset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934651-83E5-46F8-9F51-3C7EF65C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A9B6D3"/>
                </a:solidFill>
              </a:defRPr>
            </a:pPr>
            <a:r>
              <a:rPr sz="750" b="0">
                <a:solidFill>
                  <a:srgbClr val="A9B6D3"/>
                </a:solidFill>
              </a:rPr>
              <a:t>metric / owner / trigger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63DF11-CF90-4382-9E59-3F30713B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524000"/>
            <a:ext cx="2190750" cy="32385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1172A"/>
          </a:solidFill>
          <a:ln xmlns:a="http://schemas.openxmlformats.org/drawingml/2006/main" w="9525">
            <a:solidFill>
              <a:srgbClr val="2730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A18B27-32FF-4AA8-8803-4484A7B8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0025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86D4E-F8AC-4F5A-84D3-D1B0132A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62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9D6A92-E364-4726-9E0E-2944EF27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0386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A9B6D3"/>
                </a:solidFill>
              </a:defRPr>
            </a:pPr>
            <a:r>
              <a:rPr sz="750" b="0">
                <a:solidFill>
                  <a:srgbClr val="A9B6D3"/>
                </a:solidFill>
              </a:rPr>
              <a:t>metric / owner / trigger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BE8590-9394-433B-9440-EC021A14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24000"/>
            <a:ext cx="2190750" cy="32385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1172A"/>
          </a:solidFill>
          <a:ln xmlns:a="http://schemas.openxmlformats.org/drawingml/2006/main" w="9525">
            <a:solidFill>
              <a:srgbClr val="2730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7DBF19-D932-456A-81BA-083D99E0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0025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F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6C942E-F5B8-443D-9467-32B1361F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62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Control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36478C-9482-4529-9B0A-BF6E9DA4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386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A9B6D3"/>
                </a:solidFill>
              </a:defRPr>
            </a:pPr>
            <a:r>
              <a:rPr sz="750" b="0">
                <a:solidFill>
                  <a:srgbClr val="A9B6D3"/>
                </a:solidFill>
              </a:rPr>
              <a:t>metric / owner / trigger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21315F-4529-4574-9B85-9A6DC869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24000"/>
            <a:ext cx="2190750" cy="32385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1172A"/>
          </a:solidFill>
          <a:ln xmlns:a="http://schemas.openxmlformats.org/drawingml/2006/main" w="9525">
            <a:solidFill>
              <a:srgbClr val="2730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72DED6-0970-462C-ABA8-AD92976B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0025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165DF1-A65A-414C-B04E-55A3ED7B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62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A42DAD-D935-487E-B498-74C749B5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386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A9B6D3"/>
                </a:solidFill>
              </a:defRPr>
            </a:pPr>
            <a:r>
              <a:rPr sz="750" b="0">
                <a:solidFill>
                  <a:srgbClr val="A9B6D3"/>
                </a:solidFill>
              </a:rPr>
              <a:t>metric / owner / trigger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D4B029-06E4-426A-ADE9-F20A8DD8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7A86A8"/>
                </a:solidFill>
              </a:defRPr>
            </a:pPr>
            <a:r>
              <a:rPr sz="600" b="0">
                <a:solidFill>
                  <a:srgbClr val="7A86A8"/>
                </a:solidFill>
              </a:rPr>
              <a:t>proposal-ppt deep style system demo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0FA160-37B0-4DB3-910E-BC59C33B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6A8"/>
                </a:solidFill>
              </a:defRPr>
            </a:pPr>
            <a:r>
              <a:rPr sz="675" b="0">
                <a:solidFill>
                  <a:srgbClr val="7A86A8"/>
                </a:solidFill>
              </a:rPr>
              <a:t>12C / 34</a:t>
            </a:r>
          </a:p>
        </p:txBody>
      </p:sp>
    </p:spTree>
    <p:extLst>
      <p:ext uri="{BB962C8B-B14F-4D97-AF65-F5344CB8AC3E}">
        <p14:creationId xmlns:p14="http://schemas.microsoft.com/office/powerpoint/2010/main" val="7729633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2026-06-26T07:16:06.7230000Z</dcterms:created>
  <dcterms:modified xsi:type="dcterms:W3CDTF">2026-06-26T07:16:06.7230000Z</dcterms:modified>
</coreProperties>
</file>